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 Title: DSE 2013 Paper 1 Part A — open-ended questions. Passage: Terra-Cotta Warriors in Color (Text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1=C 2=E 3=A 4=J 5=B 6=I 7=H 8=G 9=D 10=F. One click reveals each answer letter.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(1) question pattern, (2) hunt the signal word — easy-to-miss ones are the trap, (3) read to the right of — : ; “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answer before clicking. Click 1 reveals the model answer. Demo (not from the exam paper): purpose question; colon + dash clues.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answer before clicking. Click 1 reveals the model answer. Demo (not from the exam paper): reason question; skill = spotting the easily missed “given + noun” signal.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answer before clicking. Click 1 reveals the answer and the red circle on the proof. Click 2 reveals the explanation. Expected: rebuilding a full-size warrior from clay fragments. Ask: which words prove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answer before clicking. Click 1 reveals the answer and the red circle on the proof. Click 2 reveals the explanation. Expected: digging a well for their orchard. Trap: answer must say “a well”.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answer before clicking. Click 1 reveals the answer and the red circle on the proof. Click 2 reveals the explanation. Expected: monochrome. Skill: word-building (mono =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answer before clicking. Click 1 reveals the answer and the red circle on the proof. Click 2 reveals the explanation. Expected: exposed to dry Xian air → disintegrated. Why-question: quote the cause.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answer before clicking. Click 1 reveals the answer and the red circle on the proof. Click 2 reveals the explanation. Expected: how fast the paint flakes off. “To show” questions = writer’s intention.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answer before clicking. Click 1 reveals the answer and the red circle on the proof. Click 2 reveals the explanation. Expected: Chinese researchers + Conservation Office in Germany. Both sides needed.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answer before clicking. Click 1 reveals the answer and the red circle on the proof. Click 2 reveals the explanation. Expected: to keep in the protective moisture. Purpose question → “to + verb”.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answer before clicking. Click 1 reveals the answer and the red circle on the proof. Click 2 reveals the explanation. Expected: the paint imprinted on the soil adheres to dirt more readily than to lacquer. Why-question: cause after the dash.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answer before clicking. Click 1 reveals the answer and the red circle on the proof. Click 2 reveals the explanation. Expected: (i) Rong/chemists (ii) create/find (iii) reapplying (iv) binding agent. Check word form + plurals.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046720" cy="274320"/>
          </a:xfrm>
          <a:prstGeom prst="rect">
            <a:avLst/>
          </a:prstGeom>
          <a:noFill/>
        </p:spPr>
        <p:txBody>
          <a:bodyPr wrap="square" anchor="t" lIns="0" rIns="0" tIns="0" bIns="0">
            <a:spAutoFit/>
          </a:bodyPr>
          <a:lstStyle/>
          <a:p>
            <a:pPr algn="l">
              <a:spcAft>
                <a:spcPts val="400"/>
              </a:spcAft>
            </a:pPr>
            <a:r>
              <a:rPr sz="1000" b="1" i="0">
                <a:solidFill>
                  <a:srgbClr val="45B7A5"/>
                </a:solidFill>
                <a:latin typeface="Aptos"/>
                <a:ea typeface="Aptos"/>
                <a:cs typeface="Aptos"/>
              </a:rPr>
              <a:t>F.6 SP ENGLISH  •  2013 DSE PART A</a:t>
            </a:r>
          </a:p>
        </p:txBody>
      </p:sp>
      <p:sp>
        <p:nvSpPr>
          <p:cNvPr id="4" name="TextBox 3"/>
          <p:cNvSpPr txBox="1"/>
          <p:nvPr/>
        </p:nvSpPr>
        <p:spPr>
          <a:xfrm>
            <a:off x="502920" y="640080"/>
            <a:ext cx="10515600" cy="594360"/>
          </a:xfrm>
          <a:prstGeom prst="rect">
            <a:avLst/>
          </a:prstGeom>
          <a:noFill/>
        </p:spPr>
        <p:txBody>
          <a:bodyPr wrap="square" anchor="t" lIns="0" rIns="0" tIns="0" bIns="0">
            <a:spAutoFit/>
          </a:bodyPr>
          <a:lstStyle/>
          <a:p>
            <a:pPr algn="l">
              <a:spcAft>
                <a:spcPts val="400"/>
              </a:spcAft>
            </a:pPr>
            <a:r>
              <a:rPr sz="3000" b="1" i="0">
                <a:solidFill>
                  <a:srgbClr val="17365D"/>
                </a:solidFill>
                <a:latin typeface="Aptos"/>
                <a:ea typeface="Aptos"/>
                <a:cs typeface="Aptos"/>
              </a:rPr>
              <a:t>English SP</a:t>
            </a:r>
          </a:p>
        </p:txBody>
      </p:sp>
      <p:sp>
        <p:nvSpPr>
          <p:cNvPr id="5" name="Oval 4"/>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28248"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146304"/>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57432"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00200"/>
            <a:ext cx="6766560" cy="1234440"/>
          </a:xfrm>
          <a:prstGeom prst="rect">
            <a:avLst/>
          </a:prstGeom>
          <a:noFill/>
        </p:spPr>
        <p:txBody>
          <a:bodyPr wrap="square" anchor="t" lIns="0" rIns="0" tIns="0" bIns="0">
            <a:spAutoFit/>
          </a:bodyPr>
          <a:lstStyle/>
          <a:p>
            <a:pPr algn="l">
              <a:spcAft>
                <a:spcPts val="400"/>
              </a:spcAft>
            </a:pPr>
            <a:r>
              <a:rPr sz="3000" b="1" i="0">
                <a:solidFill>
                  <a:srgbClr val="17365D"/>
                </a:solidFill>
                <a:latin typeface="Aptos"/>
                <a:ea typeface="Aptos"/>
                <a:cs typeface="Aptos"/>
              </a:rPr>
              <a:t>Terra-Cotta Warriors</a:t>
            </a:r>
          </a:p>
          <a:p>
            <a:pPr algn="l">
              <a:spcAft>
                <a:spcPts val="400"/>
              </a:spcAft>
            </a:pPr>
            <a:r>
              <a:rPr sz="3000" b="1" i="0">
                <a:solidFill>
                  <a:srgbClr val="17365D"/>
                </a:solidFill>
                <a:latin typeface="Aptos"/>
                <a:ea typeface="Aptos"/>
                <a:cs typeface="Aptos"/>
              </a:rPr>
              <a:t>in Color</a:t>
            </a:r>
          </a:p>
          <a:p>
            <a:pPr algn="l">
              <a:spcAft>
                <a:spcPts val="400"/>
              </a:spcAft>
            </a:pPr>
            <a:r>
              <a:rPr sz="1300" b="0" i="0">
                <a:solidFill>
                  <a:srgbClr val="5B7083"/>
                </a:solidFill>
                <a:latin typeface="Aptos"/>
                <a:ea typeface="Aptos"/>
                <a:cs typeface="Aptos"/>
              </a:rPr>
              <a:t>a magazine feature article</a:t>
            </a:r>
          </a:p>
        </p:txBody>
      </p:sp>
      <p:sp>
        <p:nvSpPr>
          <p:cNvPr id="10" name="TextBox 9"/>
          <p:cNvSpPr txBox="1"/>
          <p:nvPr/>
        </p:nvSpPr>
        <p:spPr>
          <a:xfrm>
            <a:off x="685800" y="2971800"/>
            <a:ext cx="5852160" cy="402336"/>
          </a:xfrm>
          <a:prstGeom prst="rect">
            <a:avLst/>
          </a:prstGeom>
          <a:noFill/>
        </p:spPr>
        <p:txBody>
          <a:bodyPr wrap="square" anchor="t" lIns="0" rIns="0" tIns="0" bIns="0">
            <a:spAutoFit/>
          </a:bodyPr>
          <a:lstStyle/>
          <a:p>
            <a:pPr algn="l">
              <a:spcAft>
                <a:spcPts val="400"/>
              </a:spcAft>
            </a:pPr>
            <a:r>
              <a:rPr sz="1400" b="1" i="0">
                <a:solidFill>
                  <a:srgbClr val="2F75B5"/>
                </a:solidFill>
                <a:latin typeface="Aptos"/>
                <a:ea typeface="Aptos"/>
                <a:cs typeface="Aptos"/>
              </a:rPr>
              <a:t>Open-ended questions</a:t>
            </a:r>
          </a:p>
        </p:txBody>
      </p:sp>
      <p:sp>
        <p:nvSpPr>
          <p:cNvPr id="11" name="Rounded Rectangle 10"/>
          <p:cNvSpPr/>
          <p:nvPr/>
        </p:nvSpPr>
        <p:spPr>
          <a:xfrm>
            <a:off x="7498079" y="1600200"/>
            <a:ext cx="3794760" cy="3017520"/>
          </a:xfrm>
          <a:prstGeom prst="roundRect">
            <a:avLst>
              <a:gd name="adj" fmla="val 6000"/>
            </a:avLst>
          </a:prstGeom>
          <a:solidFill>
            <a:srgbClr val="EEE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1920240"/>
            <a:ext cx="2743200" cy="274320"/>
          </a:xfrm>
          <a:prstGeom prst="rect">
            <a:avLst/>
          </a:prstGeom>
          <a:noFill/>
        </p:spPr>
        <p:txBody>
          <a:bodyPr wrap="square" anchor="t" lIns="0" rIns="0" tIns="0" bIns="0">
            <a:spAutoFit/>
          </a:bodyPr>
          <a:lstStyle/>
          <a:p>
            <a:pPr algn="l">
              <a:spcAft>
                <a:spcPts val="400"/>
              </a:spcAft>
            </a:pPr>
            <a:r>
              <a:rPr sz="1200" b="1" i="0">
                <a:solidFill>
                  <a:srgbClr val="2F75B5"/>
                </a:solidFill>
                <a:latin typeface="Aptos"/>
                <a:ea typeface="Aptos"/>
                <a:cs typeface="Aptos"/>
              </a:rPr>
              <a:t>TODAY’S lesson</a:t>
            </a:r>
          </a:p>
        </p:txBody>
      </p:sp>
      <p:sp>
        <p:nvSpPr>
          <p:cNvPr id="13" name="TextBox 12"/>
          <p:cNvSpPr txBox="1"/>
          <p:nvPr/>
        </p:nvSpPr>
        <p:spPr>
          <a:xfrm>
            <a:off x="7772400" y="2606040"/>
            <a:ext cx="3611880" cy="1463040"/>
          </a:xfrm>
          <a:prstGeom prst="rect">
            <a:avLst/>
          </a:prstGeom>
          <a:noFill/>
        </p:spPr>
        <p:txBody>
          <a:bodyPr wrap="square" anchor="t" lIns="0" rIns="0" tIns="0" bIns="0">
            <a:spAutoFit/>
          </a:bodyPr>
          <a:lstStyle/>
          <a:p>
            <a:pPr algn="l">
              <a:spcAft>
                <a:spcPts val="400"/>
              </a:spcAft>
            </a:pPr>
            <a:r>
              <a:rPr sz="1400" b="1" i="0">
                <a:solidFill>
                  <a:srgbClr val="17365D"/>
                </a:solidFill>
                <a:latin typeface="Aptos"/>
                <a:ea typeface="Aptos"/>
                <a:cs typeface="Aptos"/>
              </a:rPr>
              <a:t>10 Vocabulary items</a:t>
            </a:r>
          </a:p>
          <a:p>
            <a:pPr algn="l">
              <a:spcAft>
                <a:spcPts val="400"/>
              </a:spcAft>
            </a:pPr>
            <a:r>
              <a:rPr sz="1400" b="1" i="0">
                <a:solidFill>
                  <a:srgbClr val="17365D"/>
                </a:solidFill>
                <a:latin typeface="Aptos"/>
                <a:ea typeface="Aptos"/>
                <a:cs typeface="Aptos"/>
              </a:rPr>
              <a:t>9 Open-ended questions</a:t>
            </a:r>
          </a:p>
          <a:p>
            <a:pPr algn="l">
              <a:spcAft>
                <a:spcPts val="400"/>
              </a:spcAft>
            </a:pPr>
            <a:r>
              <a:rPr sz="1300" b="0" i="0">
                <a:solidFill>
                  <a:srgbClr val="5B7083"/>
                </a:solidFill>
                <a:latin typeface="Aptos"/>
                <a:ea typeface="Aptos"/>
                <a:cs typeface="Aptos"/>
              </a:rPr>
              <a:t>(12 marks)</a:t>
            </a:r>
          </a:p>
        </p:txBody>
      </p:sp>
      <p:sp>
        <p:nvSpPr>
          <p:cNvPr id="14" name="TextBox 13"/>
          <p:cNvSpPr txBox="1"/>
          <p:nvPr/>
        </p:nvSpPr>
        <p:spPr>
          <a:xfrm>
            <a:off x="685800" y="5074920"/>
            <a:ext cx="7955279" cy="310896"/>
          </a:xfrm>
          <a:prstGeom prst="rect">
            <a:avLst/>
          </a:prstGeom>
          <a:noFill/>
        </p:spPr>
        <p:txBody>
          <a:bodyPr wrap="square" anchor="t" lIns="0" rIns="0" tIns="0" bIns="0">
            <a:spAutoFit/>
          </a:bodyPr>
          <a:lstStyle/>
          <a:p>
            <a:pPr algn="l">
              <a:spcAft>
                <a:spcPts val="400"/>
              </a:spcAft>
            </a:pPr>
            <a:r>
              <a:rPr sz="1200" b="0" i="0">
                <a:solidFill>
                  <a:srgbClr val="5B7083"/>
                </a:solidFill>
                <a:latin typeface="Aptos"/>
                <a:ea typeface="Aptos"/>
                <a:cs typeface="Aptos"/>
              </a:rPr>
              <a:t>DSE 2013 Part A  •  Reading for marks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046720" cy="274320"/>
          </a:xfrm>
          <a:prstGeom prst="rect">
            <a:avLst/>
          </a:prstGeom>
          <a:noFill/>
        </p:spPr>
        <p:txBody>
          <a:bodyPr wrap="square" anchor="t" lIns="0" rIns="0" tIns="0" bIns="0">
            <a:spAutoFit/>
          </a:bodyPr>
          <a:lstStyle/>
          <a:p>
            <a:pPr algn="l">
              <a:spcAft>
                <a:spcPts val="400"/>
              </a:spcAft>
            </a:pPr>
            <a:r>
              <a:rPr sz="1000" b="1" i="0">
                <a:solidFill>
                  <a:srgbClr val="45B7A5"/>
                </a:solidFill>
                <a:latin typeface="Aptos"/>
                <a:ea typeface="Aptos"/>
                <a:cs typeface="Aptos"/>
              </a:rPr>
              <a:t>WARM-UP  •  PAIR WORK</a:t>
            </a:r>
          </a:p>
        </p:txBody>
      </p:sp>
      <p:sp>
        <p:nvSpPr>
          <p:cNvPr id="4" name="TextBox 3"/>
          <p:cNvSpPr txBox="1"/>
          <p:nvPr/>
        </p:nvSpPr>
        <p:spPr>
          <a:xfrm>
            <a:off x="502920" y="640080"/>
            <a:ext cx="10515600" cy="594360"/>
          </a:xfrm>
          <a:prstGeom prst="rect">
            <a:avLst/>
          </a:prstGeom>
          <a:noFill/>
        </p:spPr>
        <p:txBody>
          <a:bodyPr wrap="square" anchor="t" lIns="0" rIns="0" tIns="0" bIns="0">
            <a:spAutoFit/>
          </a:bodyPr>
          <a:lstStyle/>
          <a:p>
            <a:pPr algn="l">
              <a:spcAft>
                <a:spcPts val="400"/>
              </a:spcAft>
            </a:pPr>
            <a:r>
              <a:rPr sz="2600" b="1" i="0">
                <a:solidFill>
                  <a:srgbClr val="17365D"/>
                </a:solidFill>
                <a:latin typeface="Aptos"/>
                <a:ea typeface="Aptos"/>
                <a:cs typeface="Aptos"/>
              </a:rPr>
              <a:t>Key vocabulary: match the meanings</a:t>
            </a:r>
          </a:p>
        </p:txBody>
      </p:sp>
      <p:sp>
        <p:nvSpPr>
          <p:cNvPr id="5" name="Oval 4"/>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28248"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146304"/>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57432"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207008"/>
            <a:ext cx="3200400" cy="402336"/>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71016"/>
            <a:ext cx="3017520" cy="292608"/>
          </a:xfrm>
          <a:prstGeom prst="rect">
            <a:avLst/>
          </a:prstGeom>
          <a:noFill/>
        </p:spPr>
        <p:txBody>
          <a:bodyPr wrap="square" anchor="t" lIns="0" rIns="0" tIns="0" bIns="0">
            <a:spAutoFit/>
          </a:bodyPr>
          <a:lstStyle/>
          <a:p>
            <a:pPr algn="l">
              <a:spcAft>
                <a:spcPts val="400"/>
              </a:spcAft>
            </a:pPr>
            <a:r>
              <a:rPr sz="1300" b="1" i="0">
                <a:solidFill>
                  <a:srgbClr val="17365D"/>
                </a:solidFill>
                <a:latin typeface="Aptos"/>
                <a:ea typeface="Aptos"/>
                <a:cs typeface="Aptos"/>
              </a:rPr>
              <a:t>1.  spectacle</a:t>
            </a:r>
          </a:p>
        </p:txBody>
      </p:sp>
      <p:sp>
        <p:nvSpPr>
          <p:cNvPr id="11" name="TextBox 10"/>
          <p:cNvSpPr txBox="1"/>
          <p:nvPr/>
        </p:nvSpPr>
        <p:spPr>
          <a:xfrm>
            <a:off x="3840480" y="1261872"/>
            <a:ext cx="640080" cy="292608"/>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____</a:t>
            </a:r>
          </a:p>
        </p:txBody>
      </p:sp>
      <p:sp>
        <p:nvSpPr>
          <p:cNvPr id="12" name="TextBox 11"/>
          <p:cNvSpPr txBox="1"/>
          <p:nvPr/>
        </p:nvSpPr>
        <p:spPr>
          <a:xfrm>
            <a:off x="4709160" y="1261872"/>
            <a:ext cx="7040880" cy="292608"/>
          </a:xfrm>
          <a:prstGeom prst="rect">
            <a:avLst/>
          </a:prstGeom>
          <a:noFill/>
        </p:spPr>
        <p:txBody>
          <a:bodyPr wrap="square" anchor="t" lIns="0" rIns="0" tIns="0" bIns="0">
            <a:spAutoFit/>
          </a:bodyPr>
          <a:lstStyle/>
          <a:p>
            <a:pPr algn="l">
              <a:spcAft>
                <a:spcPts val="400"/>
              </a:spcAft>
            </a:pPr>
            <a:r>
              <a:rPr sz="1100" b="0" i="0">
                <a:solidFill>
                  <a:srgbClr val="5B7083"/>
                </a:solidFill>
                <a:latin typeface="Aptos"/>
                <a:ea typeface="Aptos"/>
                <a:cs typeface="Aptos"/>
              </a:rPr>
              <a:t>A.  a king who rules a large country (an empire)</a:t>
            </a:r>
          </a:p>
        </p:txBody>
      </p:sp>
      <p:sp>
        <p:nvSpPr>
          <p:cNvPr id="13" name="Rounded Rectangle 12"/>
          <p:cNvSpPr/>
          <p:nvPr/>
        </p:nvSpPr>
        <p:spPr>
          <a:xfrm>
            <a:off x="502920" y="1691640"/>
            <a:ext cx="3200400" cy="402336"/>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55648"/>
            <a:ext cx="3017520" cy="292608"/>
          </a:xfrm>
          <a:prstGeom prst="rect">
            <a:avLst/>
          </a:prstGeom>
          <a:noFill/>
        </p:spPr>
        <p:txBody>
          <a:bodyPr wrap="square" anchor="t" lIns="0" rIns="0" tIns="0" bIns="0">
            <a:spAutoFit/>
          </a:bodyPr>
          <a:lstStyle/>
          <a:p>
            <a:pPr algn="l">
              <a:spcAft>
                <a:spcPts val="400"/>
              </a:spcAft>
            </a:pPr>
            <a:r>
              <a:rPr sz="1300" b="1" i="0">
                <a:solidFill>
                  <a:srgbClr val="17365D"/>
                </a:solidFill>
                <a:latin typeface="Aptos"/>
                <a:ea typeface="Aptos"/>
                <a:cs typeface="Aptos"/>
              </a:rPr>
              <a:t>2.  buried</a:t>
            </a:r>
          </a:p>
        </p:txBody>
      </p:sp>
      <p:sp>
        <p:nvSpPr>
          <p:cNvPr id="15" name="TextBox 14"/>
          <p:cNvSpPr txBox="1"/>
          <p:nvPr/>
        </p:nvSpPr>
        <p:spPr>
          <a:xfrm>
            <a:off x="3840480" y="1746504"/>
            <a:ext cx="640080" cy="292608"/>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____</a:t>
            </a:r>
          </a:p>
        </p:txBody>
      </p:sp>
      <p:sp>
        <p:nvSpPr>
          <p:cNvPr id="16" name="TextBox 15"/>
          <p:cNvSpPr txBox="1"/>
          <p:nvPr/>
        </p:nvSpPr>
        <p:spPr>
          <a:xfrm>
            <a:off x="4709160" y="1746504"/>
            <a:ext cx="7040880" cy="292608"/>
          </a:xfrm>
          <a:prstGeom prst="rect">
            <a:avLst/>
          </a:prstGeom>
          <a:noFill/>
        </p:spPr>
        <p:txBody>
          <a:bodyPr wrap="square" anchor="t" lIns="0" rIns="0" tIns="0" bIns="0">
            <a:spAutoFit/>
          </a:bodyPr>
          <a:lstStyle/>
          <a:p>
            <a:pPr algn="l">
              <a:spcAft>
                <a:spcPts val="400"/>
              </a:spcAft>
            </a:pPr>
            <a:r>
              <a:rPr sz="1100" b="0" i="0">
                <a:solidFill>
                  <a:srgbClr val="5B7083"/>
                </a:solidFill>
                <a:latin typeface="Aptos"/>
                <a:ea typeface="Aptos"/>
                <a:cs typeface="Aptos"/>
              </a:rPr>
              <a:t>B.  small broken pieces of something</a:t>
            </a:r>
          </a:p>
        </p:txBody>
      </p:sp>
      <p:sp>
        <p:nvSpPr>
          <p:cNvPr id="17" name="Rounded Rectangle 16"/>
          <p:cNvSpPr/>
          <p:nvPr/>
        </p:nvSpPr>
        <p:spPr>
          <a:xfrm>
            <a:off x="502920" y="2176272"/>
            <a:ext cx="3200400" cy="402336"/>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240279"/>
            <a:ext cx="3017520" cy="292608"/>
          </a:xfrm>
          <a:prstGeom prst="rect">
            <a:avLst/>
          </a:prstGeom>
          <a:noFill/>
        </p:spPr>
        <p:txBody>
          <a:bodyPr wrap="square" anchor="t" lIns="0" rIns="0" tIns="0" bIns="0">
            <a:spAutoFit/>
          </a:bodyPr>
          <a:lstStyle/>
          <a:p>
            <a:pPr algn="l">
              <a:spcAft>
                <a:spcPts val="400"/>
              </a:spcAft>
            </a:pPr>
            <a:r>
              <a:rPr sz="1300" b="1" i="0">
                <a:solidFill>
                  <a:srgbClr val="17365D"/>
                </a:solidFill>
                <a:latin typeface="Aptos"/>
                <a:ea typeface="Aptos"/>
                <a:cs typeface="Aptos"/>
              </a:rPr>
              <a:t>3.  emperor</a:t>
            </a:r>
          </a:p>
        </p:txBody>
      </p:sp>
      <p:sp>
        <p:nvSpPr>
          <p:cNvPr id="19" name="TextBox 18"/>
          <p:cNvSpPr txBox="1"/>
          <p:nvPr/>
        </p:nvSpPr>
        <p:spPr>
          <a:xfrm>
            <a:off x="3840480" y="2231136"/>
            <a:ext cx="640080" cy="292608"/>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____</a:t>
            </a:r>
          </a:p>
        </p:txBody>
      </p:sp>
      <p:sp>
        <p:nvSpPr>
          <p:cNvPr id="20" name="TextBox 19"/>
          <p:cNvSpPr txBox="1"/>
          <p:nvPr/>
        </p:nvSpPr>
        <p:spPr>
          <a:xfrm>
            <a:off x="4709160" y="2231136"/>
            <a:ext cx="7040880" cy="292608"/>
          </a:xfrm>
          <a:prstGeom prst="rect">
            <a:avLst/>
          </a:prstGeom>
          <a:noFill/>
        </p:spPr>
        <p:txBody>
          <a:bodyPr wrap="square" anchor="t" lIns="0" rIns="0" tIns="0" bIns="0">
            <a:spAutoFit/>
          </a:bodyPr>
          <a:lstStyle/>
          <a:p>
            <a:pPr algn="l">
              <a:spcAft>
                <a:spcPts val="400"/>
              </a:spcAft>
            </a:pPr>
            <a:r>
              <a:rPr sz="1100" b="0" i="0">
                <a:solidFill>
                  <a:srgbClr val="5B7083"/>
                </a:solidFill>
                <a:latin typeface="Aptos"/>
                <a:ea typeface="Aptos"/>
                <a:cs typeface="Aptos"/>
              </a:rPr>
              <a:t>C.  an exciting show or scene that you watch</a:t>
            </a:r>
          </a:p>
        </p:txBody>
      </p:sp>
      <p:sp>
        <p:nvSpPr>
          <p:cNvPr id="21" name="Rounded Rectangle 20"/>
          <p:cNvSpPr/>
          <p:nvPr/>
        </p:nvSpPr>
        <p:spPr>
          <a:xfrm>
            <a:off x="502920" y="2660904"/>
            <a:ext cx="3200400" cy="402336"/>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2724912"/>
            <a:ext cx="3017520" cy="292608"/>
          </a:xfrm>
          <a:prstGeom prst="rect">
            <a:avLst/>
          </a:prstGeom>
          <a:noFill/>
        </p:spPr>
        <p:txBody>
          <a:bodyPr wrap="square" anchor="t" lIns="0" rIns="0" tIns="0" bIns="0">
            <a:spAutoFit/>
          </a:bodyPr>
          <a:lstStyle/>
          <a:p>
            <a:pPr algn="l">
              <a:spcAft>
                <a:spcPts val="400"/>
              </a:spcAft>
            </a:pPr>
            <a:r>
              <a:rPr sz="1300" b="1" i="0">
                <a:solidFill>
                  <a:srgbClr val="17365D"/>
                </a:solidFill>
                <a:latin typeface="Aptos"/>
                <a:ea typeface="Aptos"/>
                <a:cs typeface="Aptos"/>
              </a:rPr>
              <a:t>4.  archaeologists</a:t>
            </a:r>
          </a:p>
        </p:txBody>
      </p:sp>
      <p:sp>
        <p:nvSpPr>
          <p:cNvPr id="23" name="TextBox 22"/>
          <p:cNvSpPr txBox="1"/>
          <p:nvPr/>
        </p:nvSpPr>
        <p:spPr>
          <a:xfrm>
            <a:off x="3840480" y="2715768"/>
            <a:ext cx="640080" cy="292608"/>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____</a:t>
            </a:r>
          </a:p>
        </p:txBody>
      </p:sp>
      <p:sp>
        <p:nvSpPr>
          <p:cNvPr id="24" name="TextBox 23"/>
          <p:cNvSpPr txBox="1"/>
          <p:nvPr/>
        </p:nvSpPr>
        <p:spPr>
          <a:xfrm>
            <a:off x="4709160" y="2715768"/>
            <a:ext cx="7040880" cy="292608"/>
          </a:xfrm>
          <a:prstGeom prst="rect">
            <a:avLst/>
          </a:prstGeom>
          <a:noFill/>
        </p:spPr>
        <p:txBody>
          <a:bodyPr wrap="square" anchor="t" lIns="0" rIns="0" tIns="0" bIns="0">
            <a:spAutoFit/>
          </a:bodyPr>
          <a:lstStyle/>
          <a:p>
            <a:pPr algn="l">
              <a:spcAft>
                <a:spcPts val="400"/>
              </a:spcAft>
            </a:pPr>
            <a:r>
              <a:rPr sz="1100" b="0" i="0">
                <a:solidFill>
                  <a:srgbClr val="5B7083"/>
                </a:solidFill>
                <a:latin typeface="Aptos"/>
                <a:ea typeface="Aptos"/>
                <a:cs typeface="Aptos"/>
              </a:rPr>
              <a:t>D.  digging in the ground to find old things</a:t>
            </a:r>
          </a:p>
        </p:txBody>
      </p:sp>
      <p:sp>
        <p:nvSpPr>
          <p:cNvPr id="25" name="Rounded Rectangle 24"/>
          <p:cNvSpPr/>
          <p:nvPr/>
        </p:nvSpPr>
        <p:spPr>
          <a:xfrm>
            <a:off x="502920" y="3145536"/>
            <a:ext cx="3200400" cy="402336"/>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209544"/>
            <a:ext cx="3017520" cy="292608"/>
          </a:xfrm>
          <a:prstGeom prst="rect">
            <a:avLst/>
          </a:prstGeom>
          <a:noFill/>
        </p:spPr>
        <p:txBody>
          <a:bodyPr wrap="square" anchor="t" lIns="0" rIns="0" tIns="0" bIns="0">
            <a:spAutoFit/>
          </a:bodyPr>
          <a:lstStyle/>
          <a:p>
            <a:pPr algn="l">
              <a:spcAft>
                <a:spcPts val="400"/>
              </a:spcAft>
            </a:pPr>
            <a:r>
              <a:rPr sz="1300" b="1" i="0">
                <a:solidFill>
                  <a:srgbClr val="17365D"/>
                </a:solidFill>
                <a:latin typeface="Aptos"/>
                <a:ea typeface="Aptos"/>
                <a:cs typeface="Aptos"/>
              </a:rPr>
              <a:t>5.  fragments</a:t>
            </a:r>
          </a:p>
        </p:txBody>
      </p:sp>
      <p:sp>
        <p:nvSpPr>
          <p:cNvPr id="27" name="TextBox 26"/>
          <p:cNvSpPr txBox="1"/>
          <p:nvPr/>
        </p:nvSpPr>
        <p:spPr>
          <a:xfrm>
            <a:off x="3840480" y="3200400"/>
            <a:ext cx="640080" cy="292608"/>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____</a:t>
            </a:r>
          </a:p>
        </p:txBody>
      </p:sp>
      <p:sp>
        <p:nvSpPr>
          <p:cNvPr id="28" name="TextBox 27"/>
          <p:cNvSpPr txBox="1"/>
          <p:nvPr/>
        </p:nvSpPr>
        <p:spPr>
          <a:xfrm>
            <a:off x="4709160" y="3200400"/>
            <a:ext cx="7040880" cy="292608"/>
          </a:xfrm>
          <a:prstGeom prst="rect">
            <a:avLst/>
          </a:prstGeom>
          <a:noFill/>
        </p:spPr>
        <p:txBody>
          <a:bodyPr wrap="square" anchor="t" lIns="0" rIns="0" tIns="0" bIns="0">
            <a:spAutoFit/>
          </a:bodyPr>
          <a:lstStyle/>
          <a:p>
            <a:pPr algn="l">
              <a:spcAft>
                <a:spcPts val="400"/>
              </a:spcAft>
            </a:pPr>
            <a:r>
              <a:rPr sz="1100" b="0" i="0">
                <a:solidFill>
                  <a:srgbClr val="5B7083"/>
                </a:solidFill>
                <a:latin typeface="Aptos"/>
                <a:ea typeface="Aptos"/>
                <a:cs typeface="Aptos"/>
              </a:rPr>
              <a:t>E.  put underground; covered with earth</a:t>
            </a:r>
          </a:p>
        </p:txBody>
      </p:sp>
      <p:sp>
        <p:nvSpPr>
          <p:cNvPr id="29" name="Rounded Rectangle 28"/>
          <p:cNvSpPr/>
          <p:nvPr/>
        </p:nvSpPr>
        <p:spPr>
          <a:xfrm>
            <a:off x="502920" y="3630168"/>
            <a:ext cx="3200400" cy="402336"/>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3694176"/>
            <a:ext cx="3017520" cy="292608"/>
          </a:xfrm>
          <a:prstGeom prst="rect">
            <a:avLst/>
          </a:prstGeom>
          <a:noFill/>
        </p:spPr>
        <p:txBody>
          <a:bodyPr wrap="square" anchor="t" lIns="0" rIns="0" tIns="0" bIns="0">
            <a:spAutoFit/>
          </a:bodyPr>
          <a:lstStyle/>
          <a:p>
            <a:pPr algn="l">
              <a:spcAft>
                <a:spcPts val="400"/>
              </a:spcAft>
            </a:pPr>
            <a:r>
              <a:rPr sz="1300" b="1" i="0">
                <a:solidFill>
                  <a:srgbClr val="17365D"/>
                </a:solidFill>
                <a:latin typeface="Aptos"/>
                <a:ea typeface="Aptos"/>
                <a:cs typeface="Aptos"/>
              </a:rPr>
              <a:t>6.  warriors</a:t>
            </a:r>
          </a:p>
        </p:txBody>
      </p:sp>
      <p:sp>
        <p:nvSpPr>
          <p:cNvPr id="31" name="TextBox 30"/>
          <p:cNvSpPr txBox="1"/>
          <p:nvPr/>
        </p:nvSpPr>
        <p:spPr>
          <a:xfrm>
            <a:off x="3840480" y="3685032"/>
            <a:ext cx="640080" cy="292608"/>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____</a:t>
            </a:r>
          </a:p>
        </p:txBody>
      </p:sp>
      <p:sp>
        <p:nvSpPr>
          <p:cNvPr id="32" name="TextBox 31"/>
          <p:cNvSpPr txBox="1"/>
          <p:nvPr/>
        </p:nvSpPr>
        <p:spPr>
          <a:xfrm>
            <a:off x="4709160" y="3685032"/>
            <a:ext cx="7040880" cy="292608"/>
          </a:xfrm>
          <a:prstGeom prst="rect">
            <a:avLst/>
          </a:prstGeom>
          <a:noFill/>
        </p:spPr>
        <p:txBody>
          <a:bodyPr wrap="square" anchor="t" lIns="0" rIns="0" tIns="0" bIns="0">
            <a:spAutoFit/>
          </a:bodyPr>
          <a:lstStyle/>
          <a:p>
            <a:pPr algn="l">
              <a:spcAft>
                <a:spcPts val="400"/>
              </a:spcAft>
            </a:pPr>
            <a:r>
              <a:rPr sz="1100" b="0" i="0">
                <a:solidFill>
                  <a:srgbClr val="5B7083"/>
                </a:solidFill>
                <a:latin typeface="Aptos"/>
                <a:ea typeface="Aptos"/>
                <a:cs typeface="Aptos"/>
              </a:rPr>
              <a:t>F.  small parts that are left over; remains</a:t>
            </a:r>
          </a:p>
        </p:txBody>
      </p:sp>
      <p:sp>
        <p:nvSpPr>
          <p:cNvPr id="33" name="Rounded Rectangle 32"/>
          <p:cNvSpPr/>
          <p:nvPr/>
        </p:nvSpPr>
        <p:spPr>
          <a:xfrm>
            <a:off x="502920" y="4114800"/>
            <a:ext cx="3200400" cy="402336"/>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178808"/>
            <a:ext cx="3017520" cy="292608"/>
          </a:xfrm>
          <a:prstGeom prst="rect">
            <a:avLst/>
          </a:prstGeom>
          <a:noFill/>
        </p:spPr>
        <p:txBody>
          <a:bodyPr wrap="square" anchor="t" lIns="0" rIns="0" tIns="0" bIns="0">
            <a:spAutoFit/>
          </a:bodyPr>
          <a:lstStyle/>
          <a:p>
            <a:pPr algn="l">
              <a:spcAft>
                <a:spcPts val="400"/>
              </a:spcAft>
            </a:pPr>
            <a:r>
              <a:rPr sz="1300" b="1" i="0">
                <a:solidFill>
                  <a:srgbClr val="17365D"/>
                </a:solidFill>
                <a:latin typeface="Aptos"/>
                <a:ea typeface="Aptos"/>
                <a:cs typeface="Aptos"/>
              </a:rPr>
              <a:t>7.  grandiose</a:t>
            </a:r>
          </a:p>
        </p:txBody>
      </p:sp>
      <p:sp>
        <p:nvSpPr>
          <p:cNvPr id="35" name="TextBox 34"/>
          <p:cNvSpPr txBox="1"/>
          <p:nvPr/>
        </p:nvSpPr>
        <p:spPr>
          <a:xfrm>
            <a:off x="3840480" y="4169664"/>
            <a:ext cx="640080" cy="292608"/>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____</a:t>
            </a:r>
          </a:p>
        </p:txBody>
      </p:sp>
      <p:sp>
        <p:nvSpPr>
          <p:cNvPr id="36" name="TextBox 35"/>
          <p:cNvSpPr txBox="1"/>
          <p:nvPr/>
        </p:nvSpPr>
        <p:spPr>
          <a:xfrm>
            <a:off x="4709160" y="4169664"/>
            <a:ext cx="7040880" cy="292608"/>
          </a:xfrm>
          <a:prstGeom prst="rect">
            <a:avLst/>
          </a:prstGeom>
          <a:noFill/>
        </p:spPr>
        <p:txBody>
          <a:bodyPr wrap="square" anchor="t" lIns="0" rIns="0" tIns="0" bIns="0">
            <a:spAutoFit/>
          </a:bodyPr>
          <a:lstStyle/>
          <a:p>
            <a:pPr algn="l">
              <a:spcAft>
                <a:spcPts val="400"/>
              </a:spcAft>
            </a:pPr>
            <a:r>
              <a:rPr sz="1100" b="0" i="0">
                <a:solidFill>
                  <a:srgbClr val="5B7083"/>
                </a:solidFill>
                <a:latin typeface="Aptos"/>
                <a:ea typeface="Aptos"/>
                <a:cs typeface="Aptos"/>
              </a:rPr>
              <a:t>G.  good luck; finding something good by chance</a:t>
            </a:r>
          </a:p>
        </p:txBody>
      </p:sp>
      <p:sp>
        <p:nvSpPr>
          <p:cNvPr id="37" name="Rounded Rectangle 36"/>
          <p:cNvSpPr/>
          <p:nvPr/>
        </p:nvSpPr>
        <p:spPr>
          <a:xfrm>
            <a:off x="502920" y="4599432"/>
            <a:ext cx="3200400" cy="402336"/>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4663440"/>
            <a:ext cx="3017520" cy="292608"/>
          </a:xfrm>
          <a:prstGeom prst="rect">
            <a:avLst/>
          </a:prstGeom>
          <a:noFill/>
        </p:spPr>
        <p:txBody>
          <a:bodyPr wrap="square" anchor="t" lIns="0" rIns="0" tIns="0" bIns="0">
            <a:spAutoFit/>
          </a:bodyPr>
          <a:lstStyle/>
          <a:p>
            <a:pPr algn="l">
              <a:spcAft>
                <a:spcPts val="400"/>
              </a:spcAft>
            </a:pPr>
            <a:r>
              <a:rPr sz="1300" b="1" i="0">
                <a:solidFill>
                  <a:srgbClr val="17365D"/>
                </a:solidFill>
                <a:latin typeface="Aptos"/>
                <a:ea typeface="Aptos"/>
                <a:cs typeface="Aptos"/>
              </a:rPr>
              <a:t>8.  serendipity</a:t>
            </a:r>
          </a:p>
        </p:txBody>
      </p:sp>
      <p:sp>
        <p:nvSpPr>
          <p:cNvPr id="39" name="TextBox 38"/>
          <p:cNvSpPr txBox="1"/>
          <p:nvPr/>
        </p:nvSpPr>
        <p:spPr>
          <a:xfrm>
            <a:off x="3840480" y="4654296"/>
            <a:ext cx="640080" cy="292608"/>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____</a:t>
            </a:r>
          </a:p>
        </p:txBody>
      </p:sp>
      <p:sp>
        <p:nvSpPr>
          <p:cNvPr id="40" name="TextBox 39"/>
          <p:cNvSpPr txBox="1"/>
          <p:nvPr/>
        </p:nvSpPr>
        <p:spPr>
          <a:xfrm>
            <a:off x="4709160" y="4654296"/>
            <a:ext cx="7040880" cy="292608"/>
          </a:xfrm>
          <a:prstGeom prst="rect">
            <a:avLst/>
          </a:prstGeom>
          <a:noFill/>
        </p:spPr>
        <p:txBody>
          <a:bodyPr wrap="square" anchor="t" lIns="0" rIns="0" tIns="0" bIns="0">
            <a:spAutoFit/>
          </a:bodyPr>
          <a:lstStyle/>
          <a:p>
            <a:pPr algn="l">
              <a:spcAft>
                <a:spcPts val="400"/>
              </a:spcAft>
            </a:pPr>
            <a:r>
              <a:rPr sz="1100" b="0" i="0">
                <a:solidFill>
                  <a:srgbClr val="5B7083"/>
                </a:solidFill>
                <a:latin typeface="Aptos"/>
                <a:ea typeface="Aptos"/>
                <a:cs typeface="Aptos"/>
              </a:rPr>
              <a:t>H.  very grand and impressive; bigger than necessary</a:t>
            </a:r>
          </a:p>
        </p:txBody>
      </p:sp>
      <p:sp>
        <p:nvSpPr>
          <p:cNvPr id="41" name="Rounded Rectangle 40"/>
          <p:cNvSpPr/>
          <p:nvPr/>
        </p:nvSpPr>
        <p:spPr>
          <a:xfrm>
            <a:off x="502920" y="5084064"/>
            <a:ext cx="3200400" cy="402336"/>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5148072"/>
            <a:ext cx="3017520" cy="292608"/>
          </a:xfrm>
          <a:prstGeom prst="rect">
            <a:avLst/>
          </a:prstGeom>
          <a:noFill/>
        </p:spPr>
        <p:txBody>
          <a:bodyPr wrap="square" anchor="t" lIns="0" rIns="0" tIns="0" bIns="0">
            <a:spAutoFit/>
          </a:bodyPr>
          <a:lstStyle/>
          <a:p>
            <a:pPr algn="l">
              <a:spcAft>
                <a:spcPts val="400"/>
              </a:spcAft>
            </a:pPr>
            <a:r>
              <a:rPr sz="1300" b="1" i="0">
                <a:solidFill>
                  <a:srgbClr val="17365D"/>
                </a:solidFill>
                <a:latin typeface="Aptos"/>
                <a:ea typeface="Aptos"/>
                <a:cs typeface="Aptos"/>
              </a:rPr>
              <a:t>9.  excavation</a:t>
            </a:r>
          </a:p>
        </p:txBody>
      </p:sp>
      <p:sp>
        <p:nvSpPr>
          <p:cNvPr id="43" name="TextBox 42"/>
          <p:cNvSpPr txBox="1"/>
          <p:nvPr/>
        </p:nvSpPr>
        <p:spPr>
          <a:xfrm>
            <a:off x="3840480" y="5138928"/>
            <a:ext cx="640080" cy="292608"/>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____</a:t>
            </a:r>
          </a:p>
        </p:txBody>
      </p:sp>
      <p:sp>
        <p:nvSpPr>
          <p:cNvPr id="44" name="TextBox 43"/>
          <p:cNvSpPr txBox="1"/>
          <p:nvPr/>
        </p:nvSpPr>
        <p:spPr>
          <a:xfrm>
            <a:off x="4709160" y="5138928"/>
            <a:ext cx="7040880" cy="292608"/>
          </a:xfrm>
          <a:prstGeom prst="rect">
            <a:avLst/>
          </a:prstGeom>
          <a:noFill/>
        </p:spPr>
        <p:txBody>
          <a:bodyPr wrap="square" anchor="t" lIns="0" rIns="0" tIns="0" bIns="0">
            <a:spAutoFit/>
          </a:bodyPr>
          <a:lstStyle/>
          <a:p>
            <a:pPr algn="l">
              <a:spcAft>
                <a:spcPts val="400"/>
              </a:spcAft>
            </a:pPr>
            <a:r>
              <a:rPr sz="1100" b="0" i="0">
                <a:solidFill>
                  <a:srgbClr val="5B7083"/>
                </a:solidFill>
                <a:latin typeface="Aptos"/>
                <a:ea typeface="Aptos"/>
                <a:cs typeface="Aptos"/>
              </a:rPr>
              <a:t>I.  soldiers who fight in battles</a:t>
            </a:r>
          </a:p>
        </p:txBody>
      </p:sp>
      <p:sp>
        <p:nvSpPr>
          <p:cNvPr id="45" name="Rounded Rectangle 44"/>
          <p:cNvSpPr/>
          <p:nvPr/>
        </p:nvSpPr>
        <p:spPr>
          <a:xfrm>
            <a:off x="502920" y="5568696"/>
            <a:ext cx="3200400" cy="402336"/>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5632704"/>
            <a:ext cx="3017520" cy="292608"/>
          </a:xfrm>
          <a:prstGeom prst="rect">
            <a:avLst/>
          </a:prstGeom>
          <a:noFill/>
        </p:spPr>
        <p:txBody>
          <a:bodyPr wrap="square" anchor="t" lIns="0" rIns="0" tIns="0" bIns="0">
            <a:spAutoFit/>
          </a:bodyPr>
          <a:lstStyle/>
          <a:p>
            <a:pPr algn="l">
              <a:spcAft>
                <a:spcPts val="400"/>
              </a:spcAft>
            </a:pPr>
            <a:r>
              <a:rPr sz="1300" b="1" i="0">
                <a:solidFill>
                  <a:srgbClr val="17365D"/>
                </a:solidFill>
                <a:latin typeface="Aptos"/>
                <a:ea typeface="Aptos"/>
                <a:cs typeface="Aptos"/>
              </a:rPr>
              <a:t>10.  remnants</a:t>
            </a:r>
          </a:p>
        </p:txBody>
      </p:sp>
      <p:sp>
        <p:nvSpPr>
          <p:cNvPr id="47" name="TextBox 46"/>
          <p:cNvSpPr txBox="1"/>
          <p:nvPr/>
        </p:nvSpPr>
        <p:spPr>
          <a:xfrm>
            <a:off x="3840480" y="5623560"/>
            <a:ext cx="640080" cy="292608"/>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____</a:t>
            </a:r>
          </a:p>
        </p:txBody>
      </p:sp>
      <p:sp>
        <p:nvSpPr>
          <p:cNvPr id="48" name="TextBox 47"/>
          <p:cNvSpPr txBox="1"/>
          <p:nvPr/>
        </p:nvSpPr>
        <p:spPr>
          <a:xfrm>
            <a:off x="4709160" y="5623560"/>
            <a:ext cx="7040880" cy="292608"/>
          </a:xfrm>
          <a:prstGeom prst="rect">
            <a:avLst/>
          </a:prstGeom>
          <a:noFill/>
        </p:spPr>
        <p:txBody>
          <a:bodyPr wrap="square" anchor="t" lIns="0" rIns="0" tIns="0" bIns="0">
            <a:spAutoFit/>
          </a:bodyPr>
          <a:lstStyle/>
          <a:p>
            <a:pPr algn="l">
              <a:spcAft>
                <a:spcPts val="400"/>
              </a:spcAft>
            </a:pPr>
            <a:r>
              <a:rPr sz="1100" b="0" i="0">
                <a:solidFill>
                  <a:srgbClr val="5B7083"/>
                </a:solidFill>
                <a:latin typeface="Aptos"/>
                <a:ea typeface="Aptos"/>
                <a:cs typeface="Aptos"/>
              </a:rPr>
              <a:t>J.  scientists who study old things found in the ground</a:t>
            </a:r>
          </a:p>
        </p:txBody>
      </p:sp>
      <p:sp>
        <p:nvSpPr>
          <p:cNvPr id="49" name="vocab_ans_1"/>
          <p:cNvSpPr txBox="1"/>
          <p:nvPr/>
        </p:nvSpPr>
        <p:spPr>
          <a:xfrm>
            <a:off x="3840480" y="1252728"/>
            <a:ext cx="640080" cy="310896"/>
          </a:xfrm>
          <a:prstGeom prst="rect">
            <a:avLst/>
          </a:prstGeom>
          <a:noFill/>
        </p:spPr>
        <p:txBody>
          <a:bodyPr wrap="none">
            <a:spAutoFit/>
          </a:bodyPr>
          <a:lstStyle/>
          <a:p>
            <a:r>
              <a:rPr sz="1400" b="1" i="0">
                <a:solidFill>
                  <a:srgbClr val="17365D"/>
                </a:solidFill>
                <a:latin typeface="Aptos"/>
                <a:ea typeface="Aptos"/>
                <a:cs typeface="Aptos"/>
              </a:rPr>
              <a:t>C</a:t>
            </a:r>
          </a:p>
        </p:txBody>
      </p:sp>
      <p:sp>
        <p:nvSpPr>
          <p:cNvPr id="50" name="vocab_ans_2"/>
          <p:cNvSpPr txBox="1"/>
          <p:nvPr/>
        </p:nvSpPr>
        <p:spPr>
          <a:xfrm>
            <a:off x="3840480" y="1737360"/>
            <a:ext cx="640080" cy="310896"/>
          </a:xfrm>
          <a:prstGeom prst="rect">
            <a:avLst/>
          </a:prstGeom>
          <a:noFill/>
        </p:spPr>
        <p:txBody>
          <a:bodyPr wrap="none">
            <a:spAutoFit/>
          </a:bodyPr>
          <a:lstStyle/>
          <a:p>
            <a:r>
              <a:rPr sz="1400" b="1" i="0">
                <a:solidFill>
                  <a:srgbClr val="17365D"/>
                </a:solidFill>
                <a:latin typeface="Aptos"/>
                <a:ea typeface="Aptos"/>
                <a:cs typeface="Aptos"/>
              </a:rPr>
              <a:t>E</a:t>
            </a:r>
          </a:p>
        </p:txBody>
      </p:sp>
      <p:sp>
        <p:nvSpPr>
          <p:cNvPr id="51" name="vocab_ans_3"/>
          <p:cNvSpPr txBox="1"/>
          <p:nvPr/>
        </p:nvSpPr>
        <p:spPr>
          <a:xfrm>
            <a:off x="3840480" y="2221991"/>
            <a:ext cx="640080" cy="310896"/>
          </a:xfrm>
          <a:prstGeom prst="rect">
            <a:avLst/>
          </a:prstGeom>
          <a:noFill/>
        </p:spPr>
        <p:txBody>
          <a:bodyPr wrap="none">
            <a:spAutoFit/>
          </a:bodyPr>
          <a:lstStyle/>
          <a:p>
            <a:r>
              <a:rPr sz="1400" b="1" i="0">
                <a:solidFill>
                  <a:srgbClr val="17365D"/>
                </a:solidFill>
                <a:latin typeface="Aptos"/>
                <a:ea typeface="Aptos"/>
                <a:cs typeface="Aptos"/>
              </a:rPr>
              <a:t>A</a:t>
            </a:r>
          </a:p>
        </p:txBody>
      </p:sp>
      <p:sp>
        <p:nvSpPr>
          <p:cNvPr id="52" name="vocab_ans_4"/>
          <p:cNvSpPr txBox="1"/>
          <p:nvPr/>
        </p:nvSpPr>
        <p:spPr>
          <a:xfrm>
            <a:off x="3840480" y="2706624"/>
            <a:ext cx="640080" cy="310896"/>
          </a:xfrm>
          <a:prstGeom prst="rect">
            <a:avLst/>
          </a:prstGeom>
          <a:noFill/>
        </p:spPr>
        <p:txBody>
          <a:bodyPr wrap="none">
            <a:spAutoFit/>
          </a:bodyPr>
          <a:lstStyle/>
          <a:p>
            <a:r>
              <a:rPr sz="1400" b="1" i="0">
                <a:solidFill>
                  <a:srgbClr val="17365D"/>
                </a:solidFill>
                <a:latin typeface="Aptos"/>
                <a:ea typeface="Aptos"/>
                <a:cs typeface="Aptos"/>
              </a:rPr>
              <a:t>J</a:t>
            </a:r>
          </a:p>
        </p:txBody>
      </p:sp>
      <p:sp>
        <p:nvSpPr>
          <p:cNvPr id="53" name="vocab_ans_5"/>
          <p:cNvSpPr txBox="1"/>
          <p:nvPr/>
        </p:nvSpPr>
        <p:spPr>
          <a:xfrm>
            <a:off x="3840480" y="3191256"/>
            <a:ext cx="640080" cy="310896"/>
          </a:xfrm>
          <a:prstGeom prst="rect">
            <a:avLst/>
          </a:prstGeom>
          <a:noFill/>
        </p:spPr>
        <p:txBody>
          <a:bodyPr wrap="none">
            <a:spAutoFit/>
          </a:bodyPr>
          <a:lstStyle/>
          <a:p>
            <a:r>
              <a:rPr sz="1400" b="1" i="0">
                <a:solidFill>
                  <a:srgbClr val="17365D"/>
                </a:solidFill>
                <a:latin typeface="Aptos"/>
                <a:ea typeface="Aptos"/>
                <a:cs typeface="Aptos"/>
              </a:rPr>
              <a:t>B</a:t>
            </a:r>
          </a:p>
        </p:txBody>
      </p:sp>
      <p:sp>
        <p:nvSpPr>
          <p:cNvPr id="54" name="vocab_ans_6"/>
          <p:cNvSpPr txBox="1"/>
          <p:nvPr/>
        </p:nvSpPr>
        <p:spPr>
          <a:xfrm>
            <a:off x="3840480" y="3675888"/>
            <a:ext cx="640080" cy="310896"/>
          </a:xfrm>
          <a:prstGeom prst="rect">
            <a:avLst/>
          </a:prstGeom>
          <a:noFill/>
        </p:spPr>
        <p:txBody>
          <a:bodyPr wrap="none">
            <a:spAutoFit/>
          </a:bodyPr>
          <a:lstStyle/>
          <a:p>
            <a:r>
              <a:rPr sz="1400" b="1" i="0">
                <a:solidFill>
                  <a:srgbClr val="17365D"/>
                </a:solidFill>
                <a:latin typeface="Aptos"/>
                <a:ea typeface="Aptos"/>
                <a:cs typeface="Aptos"/>
              </a:rPr>
              <a:t>I</a:t>
            </a:r>
          </a:p>
        </p:txBody>
      </p:sp>
      <p:sp>
        <p:nvSpPr>
          <p:cNvPr id="55" name="vocab_ans_7"/>
          <p:cNvSpPr txBox="1"/>
          <p:nvPr/>
        </p:nvSpPr>
        <p:spPr>
          <a:xfrm>
            <a:off x="3840480" y="4160520"/>
            <a:ext cx="640080" cy="310896"/>
          </a:xfrm>
          <a:prstGeom prst="rect">
            <a:avLst/>
          </a:prstGeom>
          <a:noFill/>
        </p:spPr>
        <p:txBody>
          <a:bodyPr wrap="none">
            <a:spAutoFit/>
          </a:bodyPr>
          <a:lstStyle/>
          <a:p>
            <a:r>
              <a:rPr sz="1400" b="1" i="0">
                <a:solidFill>
                  <a:srgbClr val="17365D"/>
                </a:solidFill>
                <a:latin typeface="Aptos"/>
                <a:ea typeface="Aptos"/>
                <a:cs typeface="Aptos"/>
              </a:rPr>
              <a:t>H</a:t>
            </a:r>
          </a:p>
        </p:txBody>
      </p:sp>
      <p:sp>
        <p:nvSpPr>
          <p:cNvPr id="56" name="vocab_ans_8"/>
          <p:cNvSpPr txBox="1"/>
          <p:nvPr/>
        </p:nvSpPr>
        <p:spPr>
          <a:xfrm>
            <a:off x="3840480" y="4645152"/>
            <a:ext cx="640080" cy="310896"/>
          </a:xfrm>
          <a:prstGeom prst="rect">
            <a:avLst/>
          </a:prstGeom>
          <a:noFill/>
        </p:spPr>
        <p:txBody>
          <a:bodyPr wrap="none">
            <a:spAutoFit/>
          </a:bodyPr>
          <a:lstStyle/>
          <a:p>
            <a:r>
              <a:rPr sz="1400" b="1" i="0">
                <a:solidFill>
                  <a:srgbClr val="17365D"/>
                </a:solidFill>
                <a:latin typeface="Aptos"/>
                <a:ea typeface="Aptos"/>
                <a:cs typeface="Aptos"/>
              </a:rPr>
              <a:t>G</a:t>
            </a:r>
          </a:p>
        </p:txBody>
      </p:sp>
      <p:sp>
        <p:nvSpPr>
          <p:cNvPr id="57" name="vocab_ans_9"/>
          <p:cNvSpPr txBox="1"/>
          <p:nvPr/>
        </p:nvSpPr>
        <p:spPr>
          <a:xfrm>
            <a:off x="3840480" y="5129784"/>
            <a:ext cx="640080" cy="310896"/>
          </a:xfrm>
          <a:prstGeom prst="rect">
            <a:avLst/>
          </a:prstGeom>
          <a:noFill/>
        </p:spPr>
        <p:txBody>
          <a:bodyPr wrap="none">
            <a:spAutoFit/>
          </a:bodyPr>
          <a:lstStyle/>
          <a:p>
            <a:r>
              <a:rPr sz="1400" b="1" i="0">
                <a:solidFill>
                  <a:srgbClr val="17365D"/>
                </a:solidFill>
                <a:latin typeface="Aptos"/>
                <a:ea typeface="Aptos"/>
                <a:cs typeface="Aptos"/>
              </a:rPr>
              <a:t>D</a:t>
            </a:r>
          </a:p>
        </p:txBody>
      </p:sp>
      <p:sp>
        <p:nvSpPr>
          <p:cNvPr id="58" name="vocab_ans_10"/>
          <p:cNvSpPr txBox="1"/>
          <p:nvPr/>
        </p:nvSpPr>
        <p:spPr>
          <a:xfrm>
            <a:off x="3840480" y="5614416"/>
            <a:ext cx="640080" cy="310896"/>
          </a:xfrm>
          <a:prstGeom prst="rect">
            <a:avLst/>
          </a:prstGeom>
          <a:noFill/>
        </p:spPr>
        <p:txBody>
          <a:bodyPr wrap="none">
            <a:spAutoFit/>
          </a:bodyPr>
          <a:lstStyle/>
          <a:p>
            <a:r>
              <a:rPr sz="1400" b="1" i="0">
                <a:solidFill>
                  <a:srgbClr val="17365D"/>
                </a:solidFill>
                <a:latin typeface="Aptos"/>
                <a:ea typeface="Aptos"/>
                <a:cs typeface="Aptos"/>
              </a:rPr>
              <a:t>F</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0" presetClass="entr" presetSubtype="0" fill="hold" nodeType="clickEffect">
                                  <p:stCondLst>
                                    <p:cond delay="0"/>
                                  </p:stCondLst>
                                  <p:childTnLst>
                                    <p:set>
                                      <p:cBhvr>
                                        <p:cTn id="4" dur="1" fill="hold">
                                          <p:stCondLst>
                                            <p:cond delay="0"/>
                                          </p:stCondLst>
                                        </p:cTn>
                                        <p:tgtEl>
                                          <p:spTgt spid="49"/>
                                        </p:tgtEl>
                                        <p:attrNameLst>
                                          <p:attrName>style.visibility</p:attrName>
                                        </p:attrNameLst>
                                      </p:cBhvr>
                                      <p:to>
                                        <p:strVal val="visible"/>
                                      </p:to>
                                    </p:set>
                                    <p:animEffect transition="in" filter="fade">
                                      <p:cBhvr>
                                        <p:cTn id="5" dur="500"/>
                                        <p:tgtEl>
                                          <p:spTgt spid="49"/>
                                        </p:tgtEl>
                                      </p:cBhvr>
                                    </p:animEffect>
                                  </p:childTnLst>
                                </p:cTn>
                              </p:par>
                              <p:par>
                                <p:cTn id="12" presetID="10"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fade">
                                      <p:cBhvr>
                                        <p:cTn id="11" dur="500"/>
                                        <p:tgtEl>
                                          <p:spTgt spid="50"/>
                                        </p:tgtEl>
                                      </p:cBhvr>
                                    </p:animEffect>
                                  </p:childTnLst>
                                </p:cTn>
                              </p:par>
                              <p:par>
                                <p:cTn id="18" presetID="10" presetClass="entr" presetSubtype="0" fill="hold" nodeType="click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fade">
                                      <p:cBhvr>
                                        <p:cTn id="17" dur="500"/>
                                        <p:tgtEl>
                                          <p:spTgt spid="51"/>
                                        </p:tgtEl>
                                      </p:cBhvr>
                                    </p:animEffect>
                                  </p:childTnLst>
                                </p:cTn>
                              </p:par>
                              <p:par>
                                <p:cTn id="24" presetID="10" presetClass="entr" presetSubtype="0" fill="hold" nodeType="click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fade">
                                      <p:cBhvr>
                                        <p:cTn id="23" dur="500"/>
                                        <p:tgtEl>
                                          <p:spTgt spid="52"/>
                                        </p:tgtEl>
                                      </p:cBhvr>
                                    </p:animEffect>
                                  </p:childTnLst>
                                </p:cTn>
                              </p:par>
                              <p:par>
                                <p:cTn id="30" presetID="10" presetClass="entr" presetSubtype="0" fill="hold" nodeType="clickEffect">
                                  <p:stCondLst>
                                    <p:cond delay="0"/>
                                  </p:stCondLst>
                                  <p:childTnLst>
                                    <p:set>
                                      <p:cBhvr>
                                        <p:cTn id="28" dur="1" fill="hold">
                                          <p:stCondLst>
                                            <p:cond delay="0"/>
                                          </p:stCondLst>
                                        </p:cTn>
                                        <p:tgtEl>
                                          <p:spTgt spid="53"/>
                                        </p:tgtEl>
                                        <p:attrNameLst>
                                          <p:attrName>style.visibility</p:attrName>
                                        </p:attrNameLst>
                                      </p:cBhvr>
                                      <p:to>
                                        <p:strVal val="visible"/>
                                      </p:to>
                                    </p:set>
                                    <p:animEffect transition="in" filter="fade">
                                      <p:cBhvr>
                                        <p:cTn id="29" dur="500"/>
                                        <p:tgtEl>
                                          <p:spTgt spid="53"/>
                                        </p:tgtEl>
                                      </p:cBhvr>
                                    </p:animEffect>
                                  </p:childTnLst>
                                </p:cTn>
                              </p:par>
                              <p:par>
                                <p:cTn id="36" presetID="10"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fade">
                                      <p:cBhvr>
                                        <p:cTn id="35" dur="500"/>
                                        <p:tgtEl>
                                          <p:spTgt spid="54"/>
                                        </p:tgtEl>
                                      </p:cBhvr>
                                    </p:animEffect>
                                  </p:childTnLst>
                                </p:cTn>
                              </p:par>
                              <p:par>
                                <p:cTn id="42" presetID="10" presetClass="entr" presetSubtype="0" fill="hold" nodeType="clickEffect">
                                  <p:stCondLst>
                                    <p:cond delay="0"/>
                                  </p:stCondLst>
                                  <p:childTnLst>
                                    <p:set>
                                      <p:cBhvr>
                                        <p:cTn id="40" dur="1" fill="hold">
                                          <p:stCondLst>
                                            <p:cond delay="0"/>
                                          </p:stCondLst>
                                        </p:cTn>
                                        <p:tgtEl>
                                          <p:spTgt spid="55"/>
                                        </p:tgtEl>
                                        <p:attrNameLst>
                                          <p:attrName>style.visibility</p:attrName>
                                        </p:attrNameLst>
                                      </p:cBhvr>
                                      <p:to>
                                        <p:strVal val="visible"/>
                                      </p:to>
                                    </p:set>
                                    <p:animEffect transition="in" filter="fade">
                                      <p:cBhvr>
                                        <p:cTn id="41" dur="500"/>
                                        <p:tgtEl>
                                          <p:spTgt spid="55"/>
                                        </p:tgtEl>
                                      </p:cBhvr>
                                    </p:animEffect>
                                  </p:childTnLst>
                                </p:cTn>
                              </p:par>
                              <p:par>
                                <p:cTn id="48" presetID="10" presetClass="entr" presetSubtype="0" fill="hold" nodeType="click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fade">
                                      <p:cBhvr>
                                        <p:cTn id="47" dur="500"/>
                                        <p:tgtEl>
                                          <p:spTgt spid="56"/>
                                        </p:tgtEl>
                                      </p:cBhvr>
                                    </p:animEffect>
                                  </p:childTnLst>
                                </p:cTn>
                              </p:par>
                              <p:par>
                                <p:cTn id="54" presetID="10" presetClass="entr" presetSubtype="0" fill="hold" nodeType="clickEffect">
                                  <p:stCondLst>
                                    <p:cond delay="0"/>
                                  </p:stCondLst>
                                  <p:childTnLst>
                                    <p:set>
                                      <p:cBhvr>
                                        <p:cTn id="52" dur="1" fill="hold">
                                          <p:stCondLst>
                                            <p:cond delay="0"/>
                                          </p:stCondLst>
                                        </p:cTn>
                                        <p:tgtEl>
                                          <p:spTgt spid="57"/>
                                        </p:tgtEl>
                                        <p:attrNameLst>
                                          <p:attrName>style.visibility</p:attrName>
                                        </p:attrNameLst>
                                      </p:cBhvr>
                                      <p:to>
                                        <p:strVal val="visible"/>
                                      </p:to>
                                    </p:set>
                                    <p:animEffect transition="in" filter="fade">
                                      <p:cBhvr>
                                        <p:cTn id="53" dur="500"/>
                                        <p:tgtEl>
                                          <p:spTgt spid="57"/>
                                        </p:tgtEl>
                                      </p:cBhvr>
                                    </p:animEffect>
                                  </p:childTnLst>
                                </p:cTn>
                              </p:par>
                              <p:par>
                                <p:cTn id="60" presetID="10" presetClass="entr" presetSubtype="0" fill="hold" nodeType="clickEffect">
                                  <p:stCondLst>
                                    <p:cond delay="0"/>
                                  </p:stCondLst>
                                  <p:childTnLst>
                                    <p:set>
                                      <p:cBhvr>
                                        <p:cTn id="58" dur="1" fill="hold">
                                          <p:stCondLst>
                                            <p:cond delay="0"/>
                                          </p:stCondLst>
                                        </p:cTn>
                                        <p:tgtEl>
                                          <p:spTgt spid="58"/>
                                        </p:tgtEl>
                                        <p:attrNameLst>
                                          <p:attrName>style.visibility</p:attrName>
                                        </p:attrNameLst>
                                      </p:cBhvr>
                                      <p:to>
                                        <p:strVal val="visible"/>
                                      </p:to>
                                    </p:set>
                                    <p:animEffect transition="in" filter="fade">
                                      <p:cBhvr>
                                        <p:cTn id="59"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046720" cy="274320"/>
          </a:xfrm>
          <a:prstGeom prst="rect">
            <a:avLst/>
          </a:prstGeom>
          <a:noFill/>
        </p:spPr>
        <p:txBody>
          <a:bodyPr wrap="square" anchor="t" lIns="0" rIns="0" tIns="0" bIns="0">
            <a:spAutoFit/>
          </a:bodyPr>
          <a:lstStyle/>
          <a:p>
            <a:pPr algn="l">
              <a:spcAft>
                <a:spcPts val="400"/>
              </a:spcAft>
            </a:pPr>
            <a:r>
              <a:rPr sz="1000" b="1" i="0">
                <a:solidFill>
                  <a:srgbClr val="45B7A5"/>
                </a:solidFill>
                <a:latin typeface="Aptos"/>
                <a:ea typeface="Aptos"/>
                <a:cs typeface="Aptos"/>
              </a:rPr>
              <a:t>Exam tips</a:t>
            </a:r>
          </a:p>
        </p:txBody>
      </p:sp>
      <p:sp>
        <p:nvSpPr>
          <p:cNvPr id="4" name="TextBox 3"/>
          <p:cNvSpPr txBox="1"/>
          <p:nvPr/>
        </p:nvSpPr>
        <p:spPr>
          <a:xfrm>
            <a:off x="502920" y="640080"/>
            <a:ext cx="10515600" cy="594360"/>
          </a:xfrm>
          <a:prstGeom prst="rect">
            <a:avLst/>
          </a:prstGeom>
          <a:noFill/>
        </p:spPr>
        <p:txBody>
          <a:bodyPr wrap="square" anchor="t" lIns="0" rIns="0" tIns="0" bIns="0">
            <a:spAutoFit/>
          </a:bodyPr>
          <a:lstStyle/>
          <a:p>
            <a:pPr algn="l">
              <a:spcAft>
                <a:spcPts val="400"/>
              </a:spcAft>
            </a:pPr>
            <a:r>
              <a:rPr sz="2600" b="1" i="0">
                <a:solidFill>
                  <a:srgbClr val="17365D"/>
                </a:solidFill>
                <a:latin typeface="Aptos"/>
                <a:ea typeface="Aptos"/>
                <a:cs typeface="Aptos"/>
              </a:rPr>
              <a:t>Words that signal a reason — and where to look</a:t>
            </a:r>
          </a:p>
        </p:txBody>
      </p:sp>
      <p:sp>
        <p:nvSpPr>
          <p:cNvPr id="5" name="Oval 4"/>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28248"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146304"/>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57432"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371600"/>
            <a:ext cx="5577840" cy="2331720"/>
          </a:xfrm>
          <a:prstGeom prst="roundRect">
            <a:avLst>
              <a:gd name="adj" fmla="val 5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72768"/>
            <a:ext cx="5120640" cy="320040"/>
          </a:xfrm>
          <a:prstGeom prst="rect">
            <a:avLst/>
          </a:prstGeom>
          <a:noFill/>
        </p:spPr>
        <p:txBody>
          <a:bodyPr wrap="square" anchor="t" lIns="0" rIns="0" tIns="0" bIns="0">
            <a:spAutoFit/>
          </a:bodyPr>
          <a:lstStyle/>
          <a:p>
            <a:pPr algn="l">
              <a:spcAft>
                <a:spcPts val="400"/>
              </a:spcAft>
            </a:pPr>
            <a:r>
              <a:rPr sz="1500" b="1" i="0">
                <a:solidFill>
                  <a:srgbClr val="17365D"/>
                </a:solidFill>
                <a:latin typeface="Aptos"/>
                <a:ea typeface="Aptos"/>
                <a:cs typeface="Aptos"/>
              </a:rPr>
              <a:t>Easy to spot</a:t>
            </a:r>
          </a:p>
        </p:txBody>
      </p:sp>
      <p:sp>
        <p:nvSpPr>
          <p:cNvPr id="11" name="TextBox 10"/>
          <p:cNvSpPr txBox="1"/>
          <p:nvPr/>
        </p:nvSpPr>
        <p:spPr>
          <a:xfrm>
            <a:off x="777240" y="1965960"/>
            <a:ext cx="5120640" cy="1554480"/>
          </a:xfrm>
          <a:prstGeom prst="rect">
            <a:avLst/>
          </a:prstGeom>
          <a:noFill/>
        </p:spPr>
        <p:txBody>
          <a:bodyPr wrap="square" anchor="t" lIns="0" rIns="0" tIns="0" bIns="0">
            <a:spAutoFit/>
          </a:bodyPr>
          <a:lstStyle/>
          <a:p>
            <a:pPr algn="l">
              <a:spcAft>
                <a:spcPts val="400"/>
              </a:spcAft>
            </a:pPr>
            <a:r>
              <a:rPr sz="1300" b="0" i="0">
                <a:solidFill>
                  <a:srgbClr val="17365D"/>
                </a:solidFill>
                <a:latin typeface="Aptos"/>
                <a:ea typeface="Aptos"/>
                <a:cs typeface="Aptos"/>
              </a:rPr>
              <a:t>because, since, as, due to, thanks to, so that, to + verb, in order to</a:t>
            </a:r>
          </a:p>
        </p:txBody>
      </p:sp>
      <p:sp>
        <p:nvSpPr>
          <p:cNvPr id="12" name="Rounded Rectangle 11"/>
          <p:cNvSpPr/>
          <p:nvPr/>
        </p:nvSpPr>
        <p:spPr>
          <a:xfrm>
            <a:off x="6309360" y="1371600"/>
            <a:ext cx="5577840" cy="2331720"/>
          </a:xfrm>
          <a:prstGeom prst="roundRect">
            <a:avLst>
              <a:gd name="adj" fmla="val 5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572768"/>
            <a:ext cx="5120640" cy="320040"/>
          </a:xfrm>
          <a:prstGeom prst="rect">
            <a:avLst/>
          </a:prstGeom>
          <a:noFill/>
        </p:spPr>
        <p:txBody>
          <a:bodyPr wrap="square" anchor="t" lIns="0" rIns="0" tIns="0" bIns="0">
            <a:spAutoFit/>
          </a:bodyPr>
          <a:lstStyle/>
          <a:p>
            <a:pPr algn="l">
              <a:spcAft>
                <a:spcPts val="400"/>
              </a:spcAft>
            </a:pPr>
            <a:r>
              <a:rPr sz="1500" b="1" i="0">
                <a:solidFill>
                  <a:srgbClr val="17365D"/>
                </a:solidFill>
                <a:latin typeface="Aptos"/>
                <a:ea typeface="Aptos"/>
                <a:cs typeface="Aptos"/>
              </a:rPr>
              <a:t>Easy to miss — watch out!</a:t>
            </a:r>
          </a:p>
        </p:txBody>
      </p:sp>
      <p:sp>
        <p:nvSpPr>
          <p:cNvPr id="14" name="TextBox 13"/>
          <p:cNvSpPr txBox="1"/>
          <p:nvPr/>
        </p:nvSpPr>
        <p:spPr>
          <a:xfrm>
            <a:off x="6583680" y="1965960"/>
            <a:ext cx="5120640" cy="1645920"/>
          </a:xfrm>
          <a:prstGeom prst="rect">
            <a:avLst/>
          </a:prstGeom>
          <a:noFill/>
        </p:spPr>
        <p:txBody>
          <a:bodyPr wrap="square" anchor="t" lIns="0" rIns="0" tIns="0" bIns="0">
            <a:spAutoFit/>
          </a:bodyPr>
          <a:lstStyle/>
          <a:p>
            <a:pPr algn="l">
              <a:spcAft>
                <a:spcPts val="400"/>
              </a:spcAft>
            </a:pPr>
            <a:r>
              <a:rPr sz="1250" b="0" i="0">
                <a:solidFill>
                  <a:srgbClr val="17365D"/>
                </a:solidFill>
                <a:latin typeface="Aptos"/>
                <a:ea typeface="Aptos"/>
                <a:cs typeface="Aptos"/>
              </a:rPr>
              <a:t>given + noun (“given the heat”)  •  with + noun (“with heavy rain”)  •  out of + noun (“out of fear”)  •  prompted by  •  driven by  •  in an attempt to  •  so as to  •  for fear of  •  in response to</a:t>
            </a:r>
          </a:p>
        </p:txBody>
      </p:sp>
      <p:sp>
        <p:nvSpPr>
          <p:cNvPr id="15" name="Rounded Rectangle 14"/>
          <p:cNvSpPr/>
          <p:nvPr/>
        </p:nvSpPr>
        <p:spPr>
          <a:xfrm>
            <a:off x="502920" y="3977639"/>
            <a:ext cx="11384280" cy="1463040"/>
          </a:xfrm>
          <a:prstGeom prst="roundRect">
            <a:avLst>
              <a:gd name="adj" fmla="val 5000"/>
            </a:avLst>
          </a:prstGeom>
          <a:solidFill>
            <a:srgbClr val="EEE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206240"/>
            <a:ext cx="10881360" cy="320040"/>
          </a:xfrm>
          <a:prstGeom prst="rect">
            <a:avLst/>
          </a:prstGeom>
          <a:noFill/>
        </p:spPr>
        <p:txBody>
          <a:bodyPr wrap="square" anchor="t" lIns="0" rIns="0" tIns="0" bIns="0">
            <a:spAutoFit/>
          </a:bodyPr>
          <a:lstStyle/>
          <a:p>
            <a:pPr algn="l">
              <a:spcAft>
                <a:spcPts val="400"/>
              </a:spcAft>
            </a:pPr>
            <a:r>
              <a:rPr sz="1500" b="1" i="0">
                <a:solidFill>
                  <a:srgbClr val="17365D"/>
                </a:solidFill>
                <a:latin typeface="Aptos"/>
                <a:ea typeface="Aptos"/>
                <a:cs typeface="Aptos"/>
              </a:rPr>
              <a:t>Punctuation clues — read to the RIGHT of the mark</a:t>
            </a:r>
          </a:p>
        </p:txBody>
      </p:sp>
      <p:sp>
        <p:nvSpPr>
          <p:cNvPr id="17" name="TextBox 16"/>
          <p:cNvSpPr txBox="1"/>
          <p:nvPr/>
        </p:nvSpPr>
        <p:spPr>
          <a:xfrm>
            <a:off x="777240" y="4572000"/>
            <a:ext cx="10881360" cy="731520"/>
          </a:xfrm>
          <a:prstGeom prst="rect">
            <a:avLst/>
          </a:prstGeom>
          <a:noFill/>
        </p:spPr>
        <p:txBody>
          <a:bodyPr wrap="square" anchor="t" lIns="0" rIns="0" tIns="0" bIns="0">
            <a:spAutoFit/>
          </a:bodyPr>
          <a:lstStyle/>
          <a:p>
            <a:pPr algn="l">
              <a:spcAft>
                <a:spcPts val="400"/>
              </a:spcAft>
            </a:pPr>
            <a:r>
              <a:rPr sz="1250" b="0" i="0">
                <a:solidFill>
                  <a:srgbClr val="17365D"/>
                </a:solidFill>
                <a:latin typeface="Aptos"/>
                <a:ea typeface="Aptos"/>
                <a:cs typeface="Aptos"/>
              </a:rPr>
              <a:t>—  /  :   the reason or explanation follows the mark    •    “ ”   the speaker’s own words    •    ( )  ;   extra information / two linked ideas</a:t>
            </a:r>
          </a:p>
        </p:txBody>
      </p:sp>
      <p:sp>
        <p:nvSpPr>
          <p:cNvPr id="18" name="TextBox 17"/>
          <p:cNvSpPr txBox="1"/>
          <p:nvPr/>
        </p:nvSpPr>
        <p:spPr>
          <a:xfrm>
            <a:off x="502920" y="5806440"/>
            <a:ext cx="11155680" cy="365760"/>
          </a:xfrm>
          <a:prstGeom prst="rect">
            <a:avLst/>
          </a:prstGeom>
          <a:noFill/>
        </p:spPr>
        <p:txBody>
          <a:bodyPr wrap="square" anchor="t" lIns="0" rIns="0" tIns="0" bIns="0">
            <a:spAutoFit/>
          </a:bodyPr>
          <a:lstStyle/>
          <a:p>
            <a:pPr algn="l">
              <a:spcAft>
                <a:spcPts val="400"/>
              </a:spcAft>
            </a:pPr>
            <a:r>
              <a:rPr sz="1400" b="1" i="0">
                <a:solidFill>
                  <a:srgbClr val="2F75B5"/>
                </a:solidFill>
                <a:latin typeface="Aptos"/>
                <a:ea typeface="Aptos"/>
                <a:cs typeface="Aptos"/>
              </a:rPr>
              <a:t>Remember: the answer usually sits right NEXT to the signal word.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046720" cy="274320"/>
          </a:xfrm>
          <a:prstGeom prst="rect">
            <a:avLst/>
          </a:prstGeom>
          <a:noFill/>
        </p:spPr>
        <p:txBody>
          <a:bodyPr wrap="square" anchor="t" lIns="0" rIns="0" tIns="0" bIns="0">
            <a:spAutoFit/>
          </a:bodyPr>
          <a:lstStyle/>
          <a:p>
            <a:pPr algn="l">
              <a:spcAft>
                <a:spcPts val="400"/>
              </a:spcAft>
            </a:pPr>
            <a:r>
              <a:rPr sz="1000" b="1" i="0">
                <a:solidFill>
                  <a:srgbClr val="45B7A5"/>
                </a:solidFill>
                <a:latin typeface="Aptos"/>
                <a:ea typeface="Aptos"/>
                <a:cs typeface="Aptos"/>
              </a:rPr>
              <a:t>Exam tips</a:t>
            </a:r>
          </a:p>
        </p:txBody>
      </p:sp>
      <p:sp>
        <p:nvSpPr>
          <p:cNvPr id="4" name="TextBox 3"/>
          <p:cNvSpPr txBox="1"/>
          <p:nvPr/>
        </p:nvSpPr>
        <p:spPr>
          <a:xfrm>
            <a:off x="502920" y="640080"/>
            <a:ext cx="10515600" cy="594360"/>
          </a:xfrm>
          <a:prstGeom prst="rect">
            <a:avLst/>
          </a:prstGeom>
          <a:noFill/>
        </p:spPr>
        <p:txBody>
          <a:bodyPr wrap="square" anchor="t" lIns="0" rIns="0" tIns="0" bIns="0">
            <a:spAutoFit/>
          </a:bodyPr>
          <a:lstStyle/>
          <a:p>
            <a:pPr algn="l">
              <a:spcAft>
                <a:spcPts val="400"/>
              </a:spcAft>
            </a:pPr>
            <a:r>
              <a:rPr sz="2400" b="1" i="0">
                <a:solidFill>
                  <a:srgbClr val="17365D"/>
                </a:solidFill>
                <a:latin typeface="Aptos"/>
                <a:ea typeface="Aptos"/>
                <a:cs typeface="Aptos"/>
              </a:rPr>
              <a:t>Finding the purpose — read to the right of the mark</a:t>
            </a:r>
          </a:p>
        </p:txBody>
      </p:sp>
      <p:sp>
        <p:nvSpPr>
          <p:cNvPr id="5" name="Oval 4"/>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28248"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146304"/>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57432"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325880"/>
            <a:ext cx="11201400" cy="1828800"/>
          </a:xfrm>
          <a:prstGeom prst="roundRect">
            <a:avLst>
              <a:gd name="adj" fmla="val 5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08760"/>
            <a:ext cx="10698480" cy="1508760"/>
          </a:xfrm>
          <a:prstGeom prst="rect">
            <a:avLst/>
          </a:prstGeom>
          <a:noFill/>
        </p:spPr>
        <p:txBody>
          <a:bodyPr wrap="square" anchor="t" lIns="0" rIns="0" tIns="0" bIns="0">
            <a:spAutoFit/>
          </a:bodyPr>
          <a:lstStyle/>
          <a:p>
            <a:pPr algn="l">
              <a:spcAft>
                <a:spcPts val="400"/>
              </a:spcAft>
            </a:pPr>
            <a:r>
              <a:rPr sz="1300" b="0" i="0">
                <a:solidFill>
                  <a:srgbClr val="17365D"/>
                </a:solidFill>
                <a:latin typeface="Aptos"/>
                <a:ea typeface="Aptos"/>
                <a:cs typeface="Aptos"/>
              </a:rPr>
              <a:t>“Every day, Hong Kong restaurants throw away hundreds of tonnes of edible food. To fight this waste, a charity has launched a ‘surprise meal’ scheme: chefs collect leftover ingredients and turn them into three-course dinners sold for a sixth of the normal price — the aim is simple, to keep good food out of the landfill. ‘We are not a soup kitchen,’ says founder Grace Lam. ‘We are a rescue team.’ Customers pay what they can, and anyone who cannot pay eats for free.”</a:t>
            </a:r>
          </a:p>
        </p:txBody>
      </p:sp>
      <p:sp>
        <p:nvSpPr>
          <p:cNvPr id="11" name="TextBox 10"/>
          <p:cNvSpPr txBox="1"/>
          <p:nvPr/>
        </p:nvSpPr>
        <p:spPr>
          <a:xfrm>
            <a:off x="713232" y="3383280"/>
            <a:ext cx="10945368" cy="640080"/>
          </a:xfrm>
          <a:prstGeom prst="rect">
            <a:avLst/>
          </a:prstGeom>
          <a:noFill/>
        </p:spPr>
        <p:txBody>
          <a:bodyPr wrap="square" anchor="t" lIns="0" rIns="0" tIns="0" bIns="0">
            <a:spAutoFit/>
          </a:bodyPr>
          <a:lstStyle/>
          <a:p>
            <a:pPr algn="l">
              <a:spcAft>
                <a:spcPts val="400"/>
              </a:spcAft>
            </a:pPr>
            <a:r>
              <a:rPr sz="1600" b="1" i="0">
                <a:solidFill>
                  <a:srgbClr val="17365D"/>
                </a:solidFill>
                <a:latin typeface="Aptos"/>
                <a:ea typeface="Aptos"/>
                <a:cs typeface="Aptos"/>
              </a:rPr>
              <a:t>What is the purpose of the ‘surprise meal’ scheme?</a:t>
            </a:r>
          </a:p>
        </p:txBody>
      </p:sp>
      <p:sp>
        <p:nvSpPr>
          <p:cNvPr id="12" name="TextBox 11"/>
          <p:cNvSpPr txBox="1"/>
          <p:nvPr/>
        </p:nvSpPr>
        <p:spPr>
          <a:xfrm>
            <a:off x="713232" y="4206240"/>
            <a:ext cx="10945368" cy="1371600"/>
          </a:xfrm>
          <a:prstGeom prst="rect">
            <a:avLst/>
          </a:prstGeom>
          <a:noFill/>
        </p:spPr>
        <p:txBody>
          <a:bodyPr wrap="square" anchor="t" lIns="0" rIns="0" tIns="0" bIns="0">
            <a:spAutoFit/>
          </a:bodyPr>
          <a:lstStyle/>
          <a:p>
            <a:pPr algn="l">
              <a:spcAft>
                <a:spcPts val="400"/>
              </a:spcAft>
            </a:pPr>
            <a:r>
              <a:rPr sz="1300" b="0" i="0">
                <a:solidFill>
                  <a:srgbClr val="5B7083"/>
                </a:solidFill>
                <a:latin typeface="Aptos"/>
                <a:ea typeface="Aptos"/>
                <a:cs typeface="Aptos"/>
              </a:rPr>
              <a:t>•  Colon after “scheme:” and dash after “normal price —” both introduce an explanation.  
•  Read right after the dash: “the aim is simple, to keep good food out of the landfill.”  
•  The opening phrase “To fight this waste” also tells you the aim — check the beginning of the paragraph too.</a:t>
            </a:r>
          </a:p>
        </p:txBody>
      </p:sp>
      <p:sp>
        <p:nvSpPr>
          <p:cNvPr id="13" name="TextBox 12"/>
          <p:cNvSpPr txBox="1"/>
          <p:nvPr/>
        </p:nvSpPr>
        <p:spPr>
          <a:xfrm>
            <a:off x="713232" y="5715000"/>
            <a:ext cx="10945368" cy="640080"/>
          </a:xfrm>
          <a:prstGeom prst="rect">
            <a:avLst/>
          </a:prstGeom>
          <a:noFill/>
        </p:spPr>
        <p:txBody>
          <a:bodyPr wrap="square" anchor="t" lIns="0" rIns="0" tIns="0" bIns="0">
            <a:spAutoFit/>
          </a:bodyPr>
          <a:lstStyle/>
          <a:p>
            <a:pPr algn="l">
              <a:spcAft>
                <a:spcPts val="400"/>
              </a:spcAft>
            </a:pPr>
            <a:r>
              <a:rPr sz="1500" b="1" i="0">
                <a:solidFill>
                  <a:srgbClr val="2F75B5"/>
                </a:solidFill>
                <a:latin typeface="Aptos"/>
                <a:ea typeface="Aptos"/>
                <a:cs typeface="Aptos"/>
              </a:rPr>
              <a:t>Model answer: To keep good food out of the landfill / to reduce the amount of edible food being wasted.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0" presetClass="entr" presetSubtype="0" fill="hold"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046720" cy="274320"/>
          </a:xfrm>
          <a:prstGeom prst="rect">
            <a:avLst/>
          </a:prstGeom>
          <a:noFill/>
        </p:spPr>
        <p:txBody>
          <a:bodyPr wrap="square" anchor="t" lIns="0" rIns="0" tIns="0" bIns="0">
            <a:spAutoFit/>
          </a:bodyPr>
          <a:lstStyle/>
          <a:p>
            <a:pPr algn="l">
              <a:spcAft>
                <a:spcPts val="400"/>
              </a:spcAft>
            </a:pPr>
            <a:r>
              <a:rPr sz="1000" b="1" i="0">
                <a:solidFill>
                  <a:srgbClr val="45B7A5"/>
                </a:solidFill>
                <a:latin typeface="Aptos"/>
                <a:ea typeface="Aptos"/>
                <a:cs typeface="Aptos"/>
              </a:rPr>
              <a:t>Exam tips</a:t>
            </a:r>
          </a:p>
        </p:txBody>
      </p:sp>
      <p:sp>
        <p:nvSpPr>
          <p:cNvPr id="4" name="TextBox 3"/>
          <p:cNvSpPr txBox="1"/>
          <p:nvPr/>
        </p:nvSpPr>
        <p:spPr>
          <a:xfrm>
            <a:off x="502920" y="640080"/>
            <a:ext cx="10515600" cy="594360"/>
          </a:xfrm>
          <a:prstGeom prst="rect">
            <a:avLst/>
          </a:prstGeom>
          <a:noFill/>
        </p:spPr>
        <p:txBody>
          <a:bodyPr wrap="square" anchor="t" lIns="0" rIns="0" tIns="0" bIns="0">
            <a:spAutoFit/>
          </a:bodyPr>
          <a:lstStyle/>
          <a:p>
            <a:pPr algn="l">
              <a:spcAft>
                <a:spcPts val="400"/>
              </a:spcAft>
            </a:pPr>
            <a:r>
              <a:rPr sz="2400" b="1" i="0">
                <a:solidFill>
                  <a:srgbClr val="17365D"/>
                </a:solidFill>
                <a:latin typeface="Aptos"/>
                <a:ea typeface="Aptos"/>
                <a:cs typeface="Aptos"/>
              </a:rPr>
              <a:t>Finding the reason — spot the hidden word</a:t>
            </a:r>
          </a:p>
        </p:txBody>
      </p:sp>
      <p:sp>
        <p:nvSpPr>
          <p:cNvPr id="5" name="Oval 4"/>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28248"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146304"/>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57432"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325880"/>
            <a:ext cx="11201400" cy="1828800"/>
          </a:xfrm>
          <a:prstGeom prst="roundRect">
            <a:avLst>
              <a:gd name="adj" fmla="val 5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08760"/>
            <a:ext cx="10698480" cy="1508760"/>
          </a:xfrm>
          <a:prstGeom prst="rect">
            <a:avLst/>
          </a:prstGeom>
          <a:noFill/>
        </p:spPr>
        <p:txBody>
          <a:bodyPr wrap="square" anchor="t" lIns="0" rIns="0" tIns="0" bIns="0">
            <a:spAutoFit/>
          </a:bodyPr>
          <a:lstStyle/>
          <a:p>
            <a:pPr algn="l">
              <a:spcAft>
                <a:spcPts val="400"/>
              </a:spcAft>
            </a:pPr>
            <a:r>
              <a:rPr sz="1300" b="0" i="0">
                <a:solidFill>
                  <a:srgbClr val="17365D"/>
                </a:solidFill>
                <a:latin typeface="Aptos"/>
                <a:ea typeface="Aptos"/>
                <a:cs typeface="Aptos"/>
              </a:rPr>
              <a:t>“Every summer, the city’s Maritime Museum hosts a model-ship race for children. Families crowd the harbour wall to watch the race, which lasts only ten minutes — the real goal is to draw young visitors into the exhibition halls. Visitors who race a boat usually beg their parents for a second visit; given the museum’s modest entrance fee, few families refuse.”</a:t>
            </a:r>
          </a:p>
        </p:txBody>
      </p:sp>
      <p:sp>
        <p:nvSpPr>
          <p:cNvPr id="11" name="TextBox 10"/>
          <p:cNvSpPr txBox="1"/>
          <p:nvPr/>
        </p:nvSpPr>
        <p:spPr>
          <a:xfrm>
            <a:off x="713232" y="3383280"/>
            <a:ext cx="10945368" cy="640080"/>
          </a:xfrm>
          <a:prstGeom prst="rect">
            <a:avLst/>
          </a:prstGeom>
          <a:noFill/>
        </p:spPr>
        <p:txBody>
          <a:bodyPr wrap="square" anchor="t" lIns="0" rIns="0" tIns="0" bIns="0">
            <a:spAutoFit/>
          </a:bodyPr>
          <a:lstStyle/>
          <a:p>
            <a:pPr algn="l">
              <a:spcAft>
                <a:spcPts val="400"/>
              </a:spcAft>
            </a:pPr>
            <a:r>
              <a:rPr sz="1600" b="1" i="0">
                <a:solidFill>
                  <a:srgbClr val="17365D"/>
                </a:solidFill>
                <a:latin typeface="Aptos"/>
                <a:ea typeface="Aptos"/>
                <a:cs typeface="Aptos"/>
              </a:rPr>
              <a:t>According to the paragraph, why do few families refuse a second visit to the museum?</a:t>
            </a:r>
          </a:p>
        </p:txBody>
      </p:sp>
      <p:sp>
        <p:nvSpPr>
          <p:cNvPr id="12" name="TextBox 11"/>
          <p:cNvSpPr txBox="1"/>
          <p:nvPr/>
        </p:nvSpPr>
        <p:spPr>
          <a:xfrm>
            <a:off x="713232" y="4206240"/>
            <a:ext cx="10945368" cy="1371600"/>
          </a:xfrm>
          <a:prstGeom prst="rect">
            <a:avLst/>
          </a:prstGeom>
          <a:noFill/>
        </p:spPr>
        <p:txBody>
          <a:bodyPr wrap="square" anchor="t" lIns="0" rIns="0" tIns="0" bIns="0">
            <a:spAutoFit/>
          </a:bodyPr>
          <a:lstStyle/>
          <a:p>
            <a:pPr algn="l">
              <a:spcAft>
                <a:spcPts val="400"/>
              </a:spcAft>
            </a:pPr>
            <a:r>
              <a:rPr sz="1300" b="0" i="0">
                <a:solidFill>
                  <a:srgbClr val="5B7083"/>
                </a:solidFill>
                <a:latin typeface="Aptos"/>
                <a:ea typeface="Aptos"/>
                <a:cs typeface="Aptos"/>
              </a:rPr>
              <a:t>•  The question asks for a REASON → hunt for a signal word you would normally skip over.  
•  “given the museum’s modest entrance fee” = “because the entrance fee is low” — an easy-to-miss reason signal.  
•  The semicolon links two ideas — read the second one for the reason.</a:t>
            </a:r>
          </a:p>
        </p:txBody>
      </p:sp>
      <p:sp>
        <p:nvSpPr>
          <p:cNvPr id="13" name="TextBox 12"/>
          <p:cNvSpPr txBox="1"/>
          <p:nvPr/>
        </p:nvSpPr>
        <p:spPr>
          <a:xfrm>
            <a:off x="713232" y="5715000"/>
            <a:ext cx="10945368" cy="640080"/>
          </a:xfrm>
          <a:prstGeom prst="rect">
            <a:avLst/>
          </a:prstGeom>
          <a:noFill/>
        </p:spPr>
        <p:txBody>
          <a:bodyPr wrap="square" anchor="t" lIns="0" rIns="0" tIns="0" bIns="0">
            <a:spAutoFit/>
          </a:bodyPr>
          <a:lstStyle/>
          <a:p>
            <a:pPr algn="l">
              <a:spcAft>
                <a:spcPts val="400"/>
              </a:spcAft>
            </a:pPr>
            <a:r>
              <a:rPr sz="1500" b="1" i="0">
                <a:solidFill>
                  <a:srgbClr val="2F75B5"/>
                </a:solidFill>
                <a:latin typeface="Aptos"/>
                <a:ea typeface="Aptos"/>
                <a:cs typeface="Aptos"/>
              </a:rPr>
              <a:t>Model answer: Because the museum’s entrance fee is low / modest.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0" presetClass="entr" presetSubtype="0" fill="hold"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046720" cy="274320"/>
          </a:xfrm>
          <a:prstGeom prst="rect">
            <a:avLst/>
          </a:prstGeom>
          <a:noFill/>
        </p:spPr>
        <p:txBody>
          <a:bodyPr wrap="square" anchor="t" lIns="0" rIns="0" tIns="0" bIns="0">
            <a:spAutoFit/>
          </a:bodyPr>
          <a:lstStyle/>
          <a:p>
            <a:pPr algn="l">
              <a:spcAft>
                <a:spcPts val="400"/>
              </a:spcAft>
            </a:pPr>
            <a:r>
              <a:rPr sz="1000" b="1" i="0">
                <a:solidFill>
                  <a:srgbClr val="45B7A5"/>
                </a:solidFill>
                <a:latin typeface="Aptos"/>
                <a:ea typeface="Aptos"/>
                <a:cs typeface="Aptos"/>
              </a:rPr>
              <a:t>QUESTION 1 OF 9</a:t>
            </a:r>
          </a:p>
        </p:txBody>
      </p:sp>
      <p:sp>
        <p:nvSpPr>
          <p:cNvPr id="4" name="TextBox 3"/>
          <p:cNvSpPr txBox="1"/>
          <p:nvPr/>
        </p:nvSpPr>
        <p:spPr>
          <a:xfrm>
            <a:off x="502920" y="640080"/>
            <a:ext cx="10515600" cy="594360"/>
          </a:xfrm>
          <a:prstGeom prst="rect">
            <a:avLst/>
          </a:prstGeom>
          <a:noFill/>
        </p:spPr>
        <p:txBody>
          <a:bodyPr wrap="square" anchor="t" lIns="0" rIns="0" tIns="0" bIns="0">
            <a:spAutoFit/>
          </a:bodyPr>
          <a:lstStyle/>
          <a:p>
            <a:pPr algn="l">
              <a:spcAft>
                <a:spcPts val="400"/>
              </a:spcAft>
            </a:pPr>
            <a:r>
              <a:rPr sz="2600" b="1" i="0">
                <a:solidFill>
                  <a:srgbClr val="17365D"/>
                </a:solidFill>
                <a:latin typeface="Aptos"/>
                <a:ea typeface="Aptos"/>
                <a:cs typeface="Aptos"/>
              </a:rPr>
              <a:t>Read the paragraph — then write your answer</a:t>
            </a:r>
          </a:p>
        </p:txBody>
      </p:sp>
      <p:sp>
        <p:nvSpPr>
          <p:cNvPr id="5" name="Oval 4"/>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28248"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146304"/>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57432"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256032"/>
            <a:ext cx="2377440" cy="365760"/>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(70%)</a:t>
            </a:r>
          </a:p>
        </p:txBody>
      </p:sp>
      <p:sp>
        <p:nvSpPr>
          <p:cNvPr id="10" name="TextBox 9"/>
          <p:cNvSpPr txBox="1"/>
          <p:nvPr/>
        </p:nvSpPr>
        <p:spPr>
          <a:xfrm>
            <a:off x="521207" y="1234440"/>
            <a:ext cx="11155680" cy="1143000"/>
          </a:xfrm>
          <a:prstGeom prst="rect">
            <a:avLst/>
          </a:prstGeom>
          <a:noFill/>
        </p:spPr>
        <p:txBody>
          <a:bodyPr wrap="square" anchor="t" lIns="0" rIns="0" tIns="0" bIns="0">
            <a:spAutoFit/>
          </a:bodyPr>
          <a:lstStyle/>
          <a:p>
            <a:pPr algn="l">
              <a:spcAft>
                <a:spcPts val="400"/>
              </a:spcAft>
            </a:pPr>
            <a:r>
              <a:rPr sz="1500" b="1" i="0">
                <a:solidFill>
                  <a:srgbClr val="17365D"/>
                </a:solidFill>
                <a:latin typeface="Aptos"/>
                <a:ea typeface="Aptos"/>
                <a:cs typeface="Aptos"/>
              </a:rPr>
              <a:t>What does ‘the task’ (line 23) refer to?</a:t>
            </a:r>
          </a:p>
        </p:txBody>
      </p:sp>
      <p:pic>
        <p:nvPicPr>
          <p:cNvPr id="11" name="Picture 10" descr="q1.png"/>
          <p:cNvPicPr>
            <a:picLocks noChangeAspect="1"/>
          </p:cNvPicPr>
          <p:nvPr/>
        </p:nvPicPr>
        <p:blipFill>
          <a:blip r:embed="rId2"/>
          <a:stretch>
            <a:fillRect/>
          </a:stretch>
        </p:blipFill>
        <p:spPr>
          <a:xfrm>
            <a:off x="502920" y="2788920"/>
            <a:ext cx="4643717" cy="2240280"/>
          </a:xfrm>
          <a:prstGeom prst="rect">
            <a:avLst/>
          </a:prstGeom>
        </p:spPr>
      </p:pic>
      <p:sp>
        <p:nvSpPr>
          <p:cNvPr id="12" name="Oval 11"/>
          <p:cNvSpPr/>
          <p:nvPr/>
        </p:nvSpPr>
        <p:spPr>
          <a:xfrm>
            <a:off x="2811780" y="3777278"/>
            <a:ext cx="502920" cy="320040"/>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2788920"/>
            <a:ext cx="3566160" cy="1371600"/>
          </a:xfrm>
          <a:prstGeom prst="rect">
            <a:avLst/>
          </a:prstGeom>
          <a:noFill/>
        </p:spPr>
        <p:txBody>
          <a:bodyPr wrap="square" anchor="t" lIns="0" rIns="0" tIns="0" bIns="0">
            <a:spAutoFit/>
          </a:bodyPr>
          <a:lstStyle/>
          <a:p>
            <a:pPr algn="l">
              <a:spcAft>
                <a:spcPts val="400"/>
              </a:spcAft>
            </a:pPr>
            <a:r>
              <a:rPr sz="1350" b="1" i="0">
                <a:solidFill>
                  <a:srgbClr val="17365D"/>
                </a:solidFill>
                <a:latin typeface="Aptos"/>
                <a:ea typeface="Aptos"/>
                <a:cs typeface="Aptos"/>
              </a:rPr>
              <a:t>Transforming / rebuilding a heap of clay fragments into a full-size warrior — reassembling an army of terra-cotta warriors.</a:t>
            </a:r>
          </a:p>
        </p:txBody>
      </p:sp>
      <p:sp>
        <p:nvSpPr>
          <p:cNvPr id="14" name="TextBox 13"/>
          <p:cNvSpPr txBox="1"/>
          <p:nvPr/>
        </p:nvSpPr>
        <p:spPr>
          <a:xfrm>
            <a:off x="8275320" y="4297680"/>
            <a:ext cx="3566160" cy="1828800"/>
          </a:xfrm>
          <a:prstGeom prst="rect">
            <a:avLst/>
          </a:prstGeom>
          <a:noFill/>
        </p:spPr>
        <p:txBody>
          <a:bodyPr wrap="square" anchor="t" lIns="0" rIns="0" tIns="0" bIns="0">
            <a:spAutoFit/>
          </a:bodyPr>
          <a:lstStyle/>
          <a:p>
            <a:pPr algn="l">
              <a:spcAft>
                <a:spcPts val="400"/>
              </a:spcAft>
            </a:pPr>
            <a:r>
              <a:rPr sz="1050" b="0" i="0">
                <a:solidFill>
                  <a:srgbClr val="5B7083"/>
                </a:solidFill>
                <a:latin typeface="Aptos"/>
                <a:ea typeface="Aptos"/>
                <a:cs typeface="Aptos"/>
              </a:rPr>
              <a:t>Paragraph 3 (lines 20–23): “…many days to transform a heap of clay fragments into a full-size warrior, but today they are lucky, accomplishing the task in a matter of hours.” — “the task” looks back at the sentence before it: turning broken clay pieces into a whole warrior.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par>
                                      <p:cTn id="1" fill="hold">
                                        <p:stCondLst>
                                          <p:cond delay="0"/>
                                        </p:stCondLst>
                                        <p:childTnLst>
                                          <p:set>
                                            <p:cBhvr>
                                              <p:cTn id="2" dur="1" fill="hold">
                                                <p:stCondLst>
                                                  <p:cond delay="0"/>
                                                </p:stCondLst>
                                              </p:cTn>
                                              <p:tgtEl>
                                                <p:spTgt spid="13"/>
                                              </p:tgtEl>
                                              <p:attrNameLst>
                                                <p:attrName>style.visibility</p:attrName>
                                              </p:attrNameLst>
                                            </p:cBhvr>
                                            <p:to>
                                              <p:strVal val="visible"/>
                                            </p:to>
                                          </p:set>
                                          <p:animEffect transition="in" filter="fade">
                                            <p:cBhvr>
                                              <p:cTn id="3" dur="500"/>
                                              <p:tgtEl>
                                                <p:spTgt spid="13"/>
                                              </p:tgtEl>
                                            </p:cBhvr>
                                          </p:animEffect>
                                        </p:childTnLst>
                                      </p:cTn>
                                    </p:par>
                                    <p:par>
                                      <p:cTn id="4" fill="hold">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500"/>
                                              <p:tgtEl>
                                                <p:spTgt spid="12"/>
                                              </p:tgtEl>
                                            </p:cBhvr>
                                          </p:animEffect>
                                        </p:childTnLst>
                                      </p:cTn>
                                    </p:par>
                                  </p:childTnLst>
                                </p:cTn>
                              </p:par>
                              <p:par>
                                <p:cTn id="13"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046720" cy="274320"/>
          </a:xfrm>
          <a:prstGeom prst="rect">
            <a:avLst/>
          </a:prstGeom>
          <a:noFill/>
        </p:spPr>
        <p:txBody>
          <a:bodyPr wrap="square" anchor="t" lIns="0" rIns="0" tIns="0" bIns="0">
            <a:spAutoFit/>
          </a:bodyPr>
          <a:lstStyle/>
          <a:p>
            <a:pPr algn="l">
              <a:spcAft>
                <a:spcPts val="400"/>
              </a:spcAft>
            </a:pPr>
            <a:r>
              <a:rPr sz="1000" b="1" i="0">
                <a:solidFill>
                  <a:srgbClr val="45B7A5"/>
                </a:solidFill>
                <a:latin typeface="Aptos"/>
                <a:ea typeface="Aptos"/>
                <a:cs typeface="Aptos"/>
              </a:rPr>
              <a:t>QUESTION 2 OF 9</a:t>
            </a:r>
          </a:p>
        </p:txBody>
      </p:sp>
      <p:sp>
        <p:nvSpPr>
          <p:cNvPr id="4" name="TextBox 3"/>
          <p:cNvSpPr txBox="1"/>
          <p:nvPr/>
        </p:nvSpPr>
        <p:spPr>
          <a:xfrm>
            <a:off x="502920" y="640080"/>
            <a:ext cx="10515600" cy="594360"/>
          </a:xfrm>
          <a:prstGeom prst="rect">
            <a:avLst/>
          </a:prstGeom>
          <a:noFill/>
        </p:spPr>
        <p:txBody>
          <a:bodyPr wrap="square" anchor="t" lIns="0" rIns="0" tIns="0" bIns="0">
            <a:spAutoFit/>
          </a:bodyPr>
          <a:lstStyle/>
          <a:p>
            <a:pPr algn="l">
              <a:spcAft>
                <a:spcPts val="400"/>
              </a:spcAft>
            </a:pPr>
            <a:r>
              <a:rPr sz="2600" b="1" i="0">
                <a:solidFill>
                  <a:srgbClr val="17365D"/>
                </a:solidFill>
                <a:latin typeface="Aptos"/>
                <a:ea typeface="Aptos"/>
                <a:cs typeface="Aptos"/>
              </a:rPr>
              <a:t>Read the paragraph — then write your answer</a:t>
            </a:r>
          </a:p>
        </p:txBody>
      </p:sp>
      <p:sp>
        <p:nvSpPr>
          <p:cNvPr id="5" name="Oval 4"/>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28248"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146304"/>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57432"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256032"/>
            <a:ext cx="2377440" cy="365760"/>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(47%)</a:t>
            </a:r>
          </a:p>
        </p:txBody>
      </p:sp>
      <p:sp>
        <p:nvSpPr>
          <p:cNvPr id="10" name="TextBox 9"/>
          <p:cNvSpPr txBox="1"/>
          <p:nvPr/>
        </p:nvSpPr>
        <p:spPr>
          <a:xfrm>
            <a:off x="521207" y="1234440"/>
            <a:ext cx="11155680" cy="1143000"/>
          </a:xfrm>
          <a:prstGeom prst="rect">
            <a:avLst/>
          </a:prstGeom>
          <a:noFill/>
        </p:spPr>
        <p:txBody>
          <a:bodyPr wrap="square" anchor="t" lIns="0" rIns="0" tIns="0" bIns="0">
            <a:spAutoFit/>
          </a:bodyPr>
          <a:lstStyle/>
          <a:p>
            <a:pPr algn="l">
              <a:spcAft>
                <a:spcPts val="400"/>
              </a:spcAft>
            </a:pPr>
            <a:r>
              <a:rPr sz="1500" b="1" i="0">
                <a:solidFill>
                  <a:srgbClr val="17365D"/>
                </a:solidFill>
                <a:latin typeface="Aptos"/>
                <a:ea typeface="Aptos"/>
                <a:cs typeface="Aptos"/>
              </a:rPr>
              <a:t>According to paragraph 3, what were the farmers doing when they first discovered the terra-cotta warriors?</a:t>
            </a:r>
          </a:p>
        </p:txBody>
      </p:sp>
      <p:pic>
        <p:nvPicPr>
          <p:cNvPr id="11" name="Picture 10" descr="q2.png"/>
          <p:cNvPicPr>
            <a:picLocks noChangeAspect="1"/>
          </p:cNvPicPr>
          <p:nvPr/>
        </p:nvPicPr>
        <p:blipFill>
          <a:blip r:embed="rId2"/>
          <a:stretch>
            <a:fillRect/>
          </a:stretch>
        </p:blipFill>
        <p:spPr>
          <a:xfrm>
            <a:off x="502920" y="2788920"/>
            <a:ext cx="7315200" cy="1897997"/>
          </a:xfrm>
          <a:prstGeom prst="rect">
            <a:avLst/>
          </a:prstGeom>
        </p:spPr>
      </p:pic>
      <p:sp>
        <p:nvSpPr>
          <p:cNvPr id="12" name="Oval 11"/>
          <p:cNvSpPr/>
          <p:nvPr/>
        </p:nvSpPr>
        <p:spPr>
          <a:xfrm>
            <a:off x="48809" y="3919563"/>
            <a:ext cx="1105929" cy="407772"/>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2788920"/>
            <a:ext cx="3566160" cy="1371600"/>
          </a:xfrm>
          <a:prstGeom prst="rect">
            <a:avLst/>
          </a:prstGeom>
          <a:noFill/>
        </p:spPr>
        <p:txBody>
          <a:bodyPr wrap="square" anchor="t" lIns="0" rIns="0" tIns="0" bIns="0">
            <a:spAutoFit/>
          </a:bodyPr>
          <a:lstStyle/>
          <a:p>
            <a:pPr algn="l">
              <a:spcAft>
                <a:spcPts val="400"/>
              </a:spcAft>
            </a:pPr>
            <a:r>
              <a:rPr sz="1350" b="1" i="0">
                <a:solidFill>
                  <a:srgbClr val="17365D"/>
                </a:solidFill>
                <a:latin typeface="Aptos"/>
                <a:ea typeface="Aptos"/>
                <a:cs typeface="Aptos"/>
              </a:rPr>
              <a:t>They were digging a well (for their orchard).</a:t>
            </a:r>
          </a:p>
        </p:txBody>
      </p:sp>
      <p:sp>
        <p:nvSpPr>
          <p:cNvPr id="14" name="TextBox 13"/>
          <p:cNvSpPr txBox="1"/>
          <p:nvPr/>
        </p:nvSpPr>
        <p:spPr>
          <a:xfrm>
            <a:off x="8275320" y="4297680"/>
            <a:ext cx="3566160" cy="1828800"/>
          </a:xfrm>
          <a:prstGeom prst="rect">
            <a:avLst/>
          </a:prstGeom>
          <a:noFill/>
        </p:spPr>
        <p:txBody>
          <a:bodyPr wrap="square" anchor="t" lIns="0" rIns="0" tIns="0" bIns="0">
            <a:spAutoFit/>
          </a:bodyPr>
          <a:lstStyle/>
          <a:p>
            <a:pPr algn="l">
              <a:spcAft>
                <a:spcPts val="400"/>
              </a:spcAft>
            </a:pPr>
            <a:r>
              <a:rPr sz="1050" b="0" i="0">
                <a:solidFill>
                  <a:srgbClr val="5B7083"/>
                </a:solidFill>
                <a:latin typeface="Aptos"/>
                <a:ea typeface="Aptos"/>
                <a:cs typeface="Aptos"/>
              </a:rPr>
              <a:t>Paragraph 3 (lines 24–27): “…when farmers from her village of Xiyang first unearthed pottery and a sculpted head while digging a well for their orchard.” — they found the warriors by accident while digging the well. “Digging” alone lost the mark.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par>
                                      <p:cTn id="1" fill="hold">
                                        <p:stCondLst>
                                          <p:cond delay="0"/>
                                        </p:stCondLst>
                                        <p:childTnLst>
                                          <p:set>
                                            <p:cBhvr>
                                              <p:cTn id="2" dur="1" fill="hold">
                                                <p:stCondLst>
                                                  <p:cond delay="0"/>
                                                </p:stCondLst>
                                              </p:cTn>
                                              <p:tgtEl>
                                                <p:spTgt spid="13"/>
                                              </p:tgtEl>
                                              <p:attrNameLst>
                                                <p:attrName>style.visibility</p:attrName>
                                              </p:attrNameLst>
                                            </p:cBhvr>
                                            <p:to>
                                              <p:strVal val="visible"/>
                                            </p:to>
                                          </p:set>
                                          <p:animEffect transition="in" filter="fade">
                                            <p:cBhvr>
                                              <p:cTn id="3" dur="500"/>
                                              <p:tgtEl>
                                                <p:spTgt spid="13"/>
                                              </p:tgtEl>
                                            </p:cBhvr>
                                          </p:animEffect>
                                        </p:childTnLst>
                                      </p:cTn>
                                    </p:par>
                                    <p:par>
                                      <p:cTn id="4" fill="hold">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500"/>
                                              <p:tgtEl>
                                                <p:spTgt spid="12"/>
                                              </p:tgtEl>
                                            </p:cBhvr>
                                          </p:animEffect>
                                        </p:childTnLst>
                                      </p:cTn>
                                    </p:par>
                                  </p:childTnLst>
                                </p:cTn>
                              </p:par>
                              <p:par>
                                <p:cTn id="13"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046720" cy="274320"/>
          </a:xfrm>
          <a:prstGeom prst="rect">
            <a:avLst/>
          </a:prstGeom>
          <a:noFill/>
        </p:spPr>
        <p:txBody>
          <a:bodyPr wrap="square" anchor="t" lIns="0" rIns="0" tIns="0" bIns="0">
            <a:spAutoFit/>
          </a:bodyPr>
          <a:lstStyle/>
          <a:p>
            <a:pPr algn="l">
              <a:spcAft>
                <a:spcPts val="400"/>
              </a:spcAft>
            </a:pPr>
            <a:r>
              <a:rPr sz="1000" b="1" i="0">
                <a:solidFill>
                  <a:srgbClr val="45B7A5"/>
                </a:solidFill>
                <a:latin typeface="Aptos"/>
                <a:ea typeface="Aptos"/>
                <a:cs typeface="Aptos"/>
              </a:rPr>
              <a:t>QUESTION 3 OF 9</a:t>
            </a:r>
          </a:p>
        </p:txBody>
      </p:sp>
      <p:sp>
        <p:nvSpPr>
          <p:cNvPr id="4" name="TextBox 3"/>
          <p:cNvSpPr txBox="1"/>
          <p:nvPr/>
        </p:nvSpPr>
        <p:spPr>
          <a:xfrm>
            <a:off x="502920" y="640080"/>
            <a:ext cx="10515600" cy="594360"/>
          </a:xfrm>
          <a:prstGeom prst="rect">
            <a:avLst/>
          </a:prstGeom>
          <a:noFill/>
        </p:spPr>
        <p:txBody>
          <a:bodyPr wrap="square" anchor="t" lIns="0" rIns="0" tIns="0" bIns="0">
            <a:spAutoFit/>
          </a:bodyPr>
          <a:lstStyle/>
          <a:p>
            <a:pPr algn="l">
              <a:spcAft>
                <a:spcPts val="400"/>
              </a:spcAft>
            </a:pPr>
            <a:r>
              <a:rPr sz="2600" b="1" i="0">
                <a:solidFill>
                  <a:srgbClr val="17365D"/>
                </a:solidFill>
                <a:latin typeface="Aptos"/>
                <a:ea typeface="Aptos"/>
                <a:cs typeface="Aptos"/>
              </a:rPr>
              <a:t>Read the paragraph — then write your answer</a:t>
            </a:r>
          </a:p>
        </p:txBody>
      </p:sp>
      <p:sp>
        <p:nvSpPr>
          <p:cNvPr id="5" name="Oval 4"/>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28248"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146304"/>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57432"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256032"/>
            <a:ext cx="2377440" cy="365760"/>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(37%)</a:t>
            </a:r>
          </a:p>
        </p:txBody>
      </p:sp>
      <p:sp>
        <p:nvSpPr>
          <p:cNvPr id="10" name="TextBox 9"/>
          <p:cNvSpPr txBox="1"/>
          <p:nvPr/>
        </p:nvSpPr>
        <p:spPr>
          <a:xfrm>
            <a:off x="521207" y="1234440"/>
            <a:ext cx="11155680" cy="1143000"/>
          </a:xfrm>
          <a:prstGeom prst="rect">
            <a:avLst/>
          </a:prstGeom>
          <a:noFill/>
        </p:spPr>
        <p:txBody>
          <a:bodyPr wrap="square" anchor="t" lIns="0" rIns="0" tIns="0" bIns="0">
            <a:spAutoFit/>
          </a:bodyPr>
          <a:lstStyle/>
          <a:p>
            <a:pPr algn="l">
              <a:spcAft>
                <a:spcPts val="400"/>
              </a:spcAft>
            </a:pPr>
            <a:r>
              <a:rPr sz="1500" b="1" i="0">
                <a:solidFill>
                  <a:srgbClr val="17365D"/>
                </a:solidFill>
                <a:latin typeface="Aptos"/>
                <a:ea typeface="Aptos"/>
                <a:cs typeface="Aptos"/>
              </a:rPr>
              <a:t>Find a word in paragraph 4 that means ‘not colorful’.</a:t>
            </a:r>
          </a:p>
        </p:txBody>
      </p:sp>
      <p:pic>
        <p:nvPicPr>
          <p:cNvPr id="11" name="Picture 10" descr="q3.png"/>
          <p:cNvPicPr>
            <a:picLocks noChangeAspect="1"/>
          </p:cNvPicPr>
          <p:nvPr/>
        </p:nvPicPr>
        <p:blipFill>
          <a:blip r:embed="rId2"/>
          <a:stretch>
            <a:fillRect/>
          </a:stretch>
        </p:blipFill>
        <p:spPr>
          <a:xfrm>
            <a:off x="502920" y="2788920"/>
            <a:ext cx="7315200" cy="2054577"/>
          </a:xfrm>
          <a:prstGeom prst="rect">
            <a:avLst/>
          </a:prstGeom>
        </p:spPr>
      </p:pic>
      <p:sp>
        <p:nvSpPr>
          <p:cNvPr id="12" name="Oval 11"/>
          <p:cNvSpPr/>
          <p:nvPr/>
        </p:nvSpPr>
        <p:spPr>
          <a:xfrm>
            <a:off x="1559465" y="3087981"/>
            <a:ext cx="1469248" cy="320040"/>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2788920"/>
            <a:ext cx="3566160" cy="1371600"/>
          </a:xfrm>
          <a:prstGeom prst="rect">
            <a:avLst/>
          </a:prstGeom>
          <a:noFill/>
        </p:spPr>
        <p:txBody>
          <a:bodyPr wrap="square" anchor="t" lIns="0" rIns="0" tIns="0" bIns="0">
            <a:spAutoFit/>
          </a:bodyPr>
          <a:lstStyle/>
          <a:p>
            <a:pPr algn="l">
              <a:spcAft>
                <a:spcPts val="400"/>
              </a:spcAft>
            </a:pPr>
            <a:r>
              <a:rPr sz="1350" b="1" i="0">
                <a:solidFill>
                  <a:srgbClr val="17365D"/>
                </a:solidFill>
                <a:latin typeface="Aptos"/>
                <a:ea typeface="Aptos"/>
                <a:cs typeface="Aptos"/>
              </a:rPr>
              <a:t>monochrome</a:t>
            </a:r>
          </a:p>
        </p:txBody>
      </p:sp>
      <p:sp>
        <p:nvSpPr>
          <p:cNvPr id="14" name="TextBox 13"/>
          <p:cNvSpPr txBox="1"/>
          <p:nvPr/>
        </p:nvSpPr>
        <p:spPr>
          <a:xfrm>
            <a:off x="8275320" y="4297680"/>
            <a:ext cx="3566160" cy="1828800"/>
          </a:xfrm>
          <a:prstGeom prst="rect">
            <a:avLst/>
          </a:prstGeom>
          <a:noFill/>
        </p:spPr>
        <p:txBody>
          <a:bodyPr wrap="square" anchor="t" lIns="0" rIns="0" tIns="0" bIns="0">
            <a:spAutoFit/>
          </a:bodyPr>
          <a:lstStyle/>
          <a:p>
            <a:pPr algn="l">
              <a:spcAft>
                <a:spcPts val="400"/>
              </a:spcAft>
            </a:pPr>
            <a:r>
              <a:rPr sz="1050" b="0" i="0">
                <a:solidFill>
                  <a:srgbClr val="5B7083"/>
                </a:solidFill>
                <a:latin typeface="Aptos"/>
                <a:ea typeface="Aptos"/>
                <a:cs typeface="Aptos"/>
              </a:rPr>
              <a:t>Paragraph 4 (line 33): “The monochrome figures that visitors to Xian’s terra-cotta army museum see today…” — mono = one, chrome = colour (one colour) → not colorful.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par>
                                      <p:cTn id="1" fill="hold">
                                        <p:stCondLst>
                                          <p:cond delay="0"/>
                                        </p:stCondLst>
                                        <p:childTnLst>
                                          <p:set>
                                            <p:cBhvr>
                                              <p:cTn id="2" dur="1" fill="hold">
                                                <p:stCondLst>
                                                  <p:cond delay="0"/>
                                                </p:stCondLst>
                                              </p:cTn>
                                              <p:tgtEl>
                                                <p:spTgt spid="13"/>
                                              </p:tgtEl>
                                              <p:attrNameLst>
                                                <p:attrName>style.visibility</p:attrName>
                                              </p:attrNameLst>
                                            </p:cBhvr>
                                            <p:to>
                                              <p:strVal val="visible"/>
                                            </p:to>
                                          </p:set>
                                          <p:animEffect transition="in" filter="fade">
                                            <p:cBhvr>
                                              <p:cTn id="3" dur="500"/>
                                              <p:tgtEl>
                                                <p:spTgt spid="13"/>
                                              </p:tgtEl>
                                            </p:cBhvr>
                                          </p:animEffect>
                                        </p:childTnLst>
                                      </p:cTn>
                                    </p:par>
                                    <p:par>
                                      <p:cTn id="4" fill="hold">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500"/>
                                              <p:tgtEl>
                                                <p:spTgt spid="12"/>
                                              </p:tgtEl>
                                            </p:cBhvr>
                                          </p:animEffect>
                                        </p:childTnLst>
                                      </p:cTn>
                                    </p:par>
                                  </p:childTnLst>
                                </p:cTn>
                              </p:par>
                              <p:par>
                                <p:cTn id="13"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046720" cy="274320"/>
          </a:xfrm>
          <a:prstGeom prst="rect">
            <a:avLst/>
          </a:prstGeom>
          <a:noFill/>
        </p:spPr>
        <p:txBody>
          <a:bodyPr wrap="square" anchor="t" lIns="0" rIns="0" tIns="0" bIns="0">
            <a:spAutoFit/>
          </a:bodyPr>
          <a:lstStyle/>
          <a:p>
            <a:pPr algn="l">
              <a:spcAft>
                <a:spcPts val="400"/>
              </a:spcAft>
            </a:pPr>
            <a:r>
              <a:rPr sz="1000" b="1" i="0">
                <a:solidFill>
                  <a:srgbClr val="45B7A5"/>
                </a:solidFill>
                <a:latin typeface="Aptos"/>
                <a:ea typeface="Aptos"/>
                <a:cs typeface="Aptos"/>
              </a:rPr>
              <a:t>QUESTION 4 OF 9</a:t>
            </a:r>
          </a:p>
        </p:txBody>
      </p:sp>
      <p:sp>
        <p:nvSpPr>
          <p:cNvPr id="4" name="TextBox 3"/>
          <p:cNvSpPr txBox="1"/>
          <p:nvPr/>
        </p:nvSpPr>
        <p:spPr>
          <a:xfrm>
            <a:off x="502920" y="640080"/>
            <a:ext cx="10515600" cy="594360"/>
          </a:xfrm>
          <a:prstGeom prst="rect">
            <a:avLst/>
          </a:prstGeom>
          <a:noFill/>
        </p:spPr>
        <p:txBody>
          <a:bodyPr wrap="square" anchor="t" lIns="0" rIns="0" tIns="0" bIns="0">
            <a:spAutoFit/>
          </a:bodyPr>
          <a:lstStyle/>
          <a:p>
            <a:pPr algn="l">
              <a:spcAft>
                <a:spcPts val="400"/>
              </a:spcAft>
            </a:pPr>
            <a:r>
              <a:rPr sz="2600" b="1" i="0">
                <a:solidFill>
                  <a:srgbClr val="17365D"/>
                </a:solidFill>
                <a:latin typeface="Aptos"/>
                <a:ea typeface="Aptos"/>
                <a:cs typeface="Aptos"/>
              </a:rPr>
              <a:t>Read the paragraph — then write your answer</a:t>
            </a:r>
          </a:p>
        </p:txBody>
      </p:sp>
      <p:sp>
        <p:nvSpPr>
          <p:cNvPr id="5" name="Oval 4"/>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28248"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146304"/>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57432"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256032"/>
            <a:ext cx="2377440" cy="365760"/>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(83%)</a:t>
            </a:r>
          </a:p>
        </p:txBody>
      </p:sp>
      <p:sp>
        <p:nvSpPr>
          <p:cNvPr id="10" name="TextBox 9"/>
          <p:cNvSpPr txBox="1"/>
          <p:nvPr/>
        </p:nvSpPr>
        <p:spPr>
          <a:xfrm>
            <a:off x="521207" y="1234440"/>
            <a:ext cx="11155680" cy="1143000"/>
          </a:xfrm>
          <a:prstGeom prst="rect">
            <a:avLst/>
          </a:prstGeom>
          <a:noFill/>
        </p:spPr>
        <p:txBody>
          <a:bodyPr wrap="square" anchor="t" lIns="0" rIns="0" tIns="0" bIns="0">
            <a:spAutoFit/>
          </a:bodyPr>
          <a:lstStyle/>
          <a:p>
            <a:pPr algn="l">
              <a:spcAft>
                <a:spcPts val="400"/>
              </a:spcAft>
            </a:pPr>
            <a:r>
              <a:rPr sz="1500" b="1" i="0">
                <a:solidFill>
                  <a:srgbClr val="17365D"/>
                </a:solidFill>
                <a:latin typeface="Aptos"/>
                <a:ea typeface="Aptos"/>
                <a:cs typeface="Aptos"/>
              </a:rPr>
              <a:t>According to paragraph 5, why did the colors of the warriors not survive?</a:t>
            </a:r>
          </a:p>
        </p:txBody>
      </p:sp>
      <p:pic>
        <p:nvPicPr>
          <p:cNvPr id="11" name="Picture 10" descr="q4.png"/>
          <p:cNvPicPr>
            <a:picLocks noChangeAspect="1"/>
          </p:cNvPicPr>
          <p:nvPr/>
        </p:nvPicPr>
        <p:blipFill>
          <a:blip r:embed="rId2"/>
          <a:stretch>
            <a:fillRect/>
          </a:stretch>
        </p:blipFill>
        <p:spPr>
          <a:xfrm>
            <a:off x="502920" y="2788920"/>
            <a:ext cx="7024361" cy="2240280"/>
          </a:xfrm>
          <a:prstGeom prst="rect">
            <a:avLst/>
          </a:prstGeom>
        </p:spPr>
      </p:pic>
      <p:sp>
        <p:nvSpPr>
          <p:cNvPr id="12" name="Oval 11"/>
          <p:cNvSpPr/>
          <p:nvPr/>
        </p:nvSpPr>
        <p:spPr>
          <a:xfrm>
            <a:off x="2609579" y="4459543"/>
            <a:ext cx="1365700" cy="329921"/>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2788920"/>
            <a:ext cx="3566160" cy="1371600"/>
          </a:xfrm>
          <a:prstGeom prst="rect">
            <a:avLst/>
          </a:prstGeom>
          <a:noFill/>
        </p:spPr>
        <p:txBody>
          <a:bodyPr wrap="square" anchor="t" lIns="0" rIns="0" tIns="0" bIns="0">
            <a:spAutoFit/>
          </a:bodyPr>
          <a:lstStyle/>
          <a:p>
            <a:pPr algn="l">
              <a:spcAft>
                <a:spcPts val="400"/>
              </a:spcAft>
            </a:pPr>
            <a:r>
              <a:rPr sz="1350" b="1" i="0">
                <a:solidFill>
                  <a:srgbClr val="17365D"/>
                </a:solidFill>
                <a:latin typeface="Aptos"/>
                <a:ea typeface="Aptos"/>
                <a:cs typeface="Aptos"/>
              </a:rPr>
              <a:t>Because the colors were exposed to the (dry Xian) air and disintegrated.</a:t>
            </a:r>
          </a:p>
        </p:txBody>
      </p:sp>
      <p:sp>
        <p:nvSpPr>
          <p:cNvPr id="14" name="TextBox 13"/>
          <p:cNvSpPr txBox="1"/>
          <p:nvPr/>
        </p:nvSpPr>
        <p:spPr>
          <a:xfrm>
            <a:off x="8275320" y="4297680"/>
            <a:ext cx="3566160" cy="1828800"/>
          </a:xfrm>
          <a:prstGeom prst="rect">
            <a:avLst/>
          </a:prstGeom>
          <a:noFill/>
        </p:spPr>
        <p:txBody>
          <a:bodyPr wrap="square" anchor="t" lIns="0" rIns="0" tIns="0" bIns="0">
            <a:spAutoFit/>
          </a:bodyPr>
          <a:lstStyle/>
          <a:p>
            <a:pPr algn="l">
              <a:spcAft>
                <a:spcPts val="400"/>
              </a:spcAft>
            </a:pPr>
            <a:r>
              <a:rPr sz="1050" b="0" i="0">
                <a:solidFill>
                  <a:srgbClr val="5B7083"/>
                </a:solidFill>
                <a:latin typeface="Aptos"/>
                <a:ea typeface="Aptos"/>
                <a:cs typeface="Aptos"/>
              </a:rPr>
              <a:t>Paragraph 5 (lines 51–56): “…most of the colors did not survive the crucible of time — or the exposure to air that comes with discovery and excavation. … the warriors’ colors disintegrated in the dry Xian air.” — exposure to the dry air made the colors flake off. Easiest question this lesson.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par>
                                      <p:cTn id="1" fill="hold">
                                        <p:stCondLst>
                                          <p:cond delay="0"/>
                                        </p:stCondLst>
                                        <p:childTnLst>
                                          <p:set>
                                            <p:cBhvr>
                                              <p:cTn id="2" dur="1" fill="hold">
                                                <p:stCondLst>
                                                  <p:cond delay="0"/>
                                                </p:stCondLst>
                                              </p:cTn>
                                              <p:tgtEl>
                                                <p:spTgt spid="13"/>
                                              </p:tgtEl>
                                              <p:attrNameLst>
                                                <p:attrName>style.visibility</p:attrName>
                                              </p:attrNameLst>
                                            </p:cBhvr>
                                            <p:to>
                                              <p:strVal val="visible"/>
                                            </p:to>
                                          </p:set>
                                          <p:animEffect transition="in" filter="fade">
                                            <p:cBhvr>
                                              <p:cTn id="3" dur="500"/>
                                              <p:tgtEl>
                                                <p:spTgt spid="13"/>
                                              </p:tgtEl>
                                            </p:cBhvr>
                                          </p:animEffect>
                                        </p:childTnLst>
                                      </p:cTn>
                                    </p:par>
                                    <p:par>
                                      <p:cTn id="4" fill="hold">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500"/>
                                              <p:tgtEl>
                                                <p:spTgt spid="12"/>
                                              </p:tgtEl>
                                            </p:cBhvr>
                                          </p:animEffect>
                                        </p:childTnLst>
                                      </p:cTn>
                                    </p:par>
                                  </p:childTnLst>
                                </p:cTn>
                              </p:par>
                              <p:par>
                                <p:cTn id="13"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046720" cy="274320"/>
          </a:xfrm>
          <a:prstGeom prst="rect">
            <a:avLst/>
          </a:prstGeom>
          <a:noFill/>
        </p:spPr>
        <p:txBody>
          <a:bodyPr wrap="square" anchor="t" lIns="0" rIns="0" tIns="0" bIns="0">
            <a:spAutoFit/>
          </a:bodyPr>
          <a:lstStyle/>
          <a:p>
            <a:pPr algn="l">
              <a:spcAft>
                <a:spcPts val="400"/>
              </a:spcAft>
            </a:pPr>
            <a:r>
              <a:rPr sz="1000" b="1" i="0">
                <a:solidFill>
                  <a:srgbClr val="45B7A5"/>
                </a:solidFill>
                <a:latin typeface="Aptos"/>
                <a:ea typeface="Aptos"/>
                <a:cs typeface="Aptos"/>
              </a:rPr>
              <a:t>QUESTION 5 OF 9</a:t>
            </a:r>
          </a:p>
        </p:txBody>
      </p:sp>
      <p:sp>
        <p:nvSpPr>
          <p:cNvPr id="4" name="TextBox 3"/>
          <p:cNvSpPr txBox="1"/>
          <p:nvPr/>
        </p:nvSpPr>
        <p:spPr>
          <a:xfrm>
            <a:off x="502920" y="640080"/>
            <a:ext cx="10515600" cy="594360"/>
          </a:xfrm>
          <a:prstGeom prst="rect">
            <a:avLst/>
          </a:prstGeom>
          <a:noFill/>
        </p:spPr>
        <p:txBody>
          <a:bodyPr wrap="square" anchor="t" lIns="0" rIns="0" tIns="0" bIns="0">
            <a:spAutoFit/>
          </a:bodyPr>
          <a:lstStyle/>
          <a:p>
            <a:pPr algn="l">
              <a:spcAft>
                <a:spcPts val="400"/>
              </a:spcAft>
            </a:pPr>
            <a:r>
              <a:rPr sz="2600" b="1" i="0">
                <a:solidFill>
                  <a:srgbClr val="17365D"/>
                </a:solidFill>
                <a:latin typeface="Aptos"/>
                <a:ea typeface="Aptos"/>
                <a:cs typeface="Aptos"/>
              </a:rPr>
              <a:t>Read the paragraph — then write your answer</a:t>
            </a:r>
          </a:p>
        </p:txBody>
      </p:sp>
      <p:sp>
        <p:nvSpPr>
          <p:cNvPr id="5" name="Oval 4"/>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28248"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146304"/>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57432"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256032"/>
            <a:ext cx="2377440" cy="365760"/>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(38%)</a:t>
            </a:r>
          </a:p>
        </p:txBody>
      </p:sp>
      <p:sp>
        <p:nvSpPr>
          <p:cNvPr id="10" name="TextBox 9"/>
          <p:cNvSpPr txBox="1"/>
          <p:nvPr/>
        </p:nvSpPr>
        <p:spPr>
          <a:xfrm>
            <a:off x="521207" y="1234440"/>
            <a:ext cx="11155680" cy="1143000"/>
          </a:xfrm>
          <a:prstGeom prst="rect">
            <a:avLst/>
          </a:prstGeom>
          <a:noFill/>
        </p:spPr>
        <p:txBody>
          <a:bodyPr wrap="square" anchor="t" lIns="0" rIns="0" tIns="0" bIns="0">
            <a:spAutoFit/>
          </a:bodyPr>
          <a:lstStyle/>
          <a:p>
            <a:pPr algn="l">
              <a:spcAft>
                <a:spcPts val="400"/>
              </a:spcAft>
            </a:pPr>
            <a:r>
              <a:rPr sz="1500" b="1" i="0">
                <a:solidFill>
                  <a:srgbClr val="17365D"/>
                </a:solidFill>
                <a:latin typeface="Aptos"/>
                <a:ea typeface="Aptos"/>
                <a:cs typeface="Aptos"/>
              </a:rPr>
              <a:t>In line 61, the writer mentions boiling an egg to show…</a:t>
            </a:r>
          </a:p>
        </p:txBody>
      </p:sp>
      <p:pic>
        <p:nvPicPr>
          <p:cNvPr id="11" name="Picture 10" descr="q5.png"/>
          <p:cNvPicPr>
            <a:picLocks noChangeAspect="1"/>
          </p:cNvPicPr>
          <p:nvPr/>
        </p:nvPicPr>
        <p:blipFill>
          <a:blip r:embed="rId2"/>
          <a:stretch>
            <a:fillRect/>
          </a:stretch>
        </p:blipFill>
        <p:spPr>
          <a:xfrm>
            <a:off x="502920" y="2788920"/>
            <a:ext cx="7315200" cy="1738488"/>
          </a:xfrm>
          <a:prstGeom prst="rect">
            <a:avLst/>
          </a:prstGeom>
        </p:spPr>
      </p:pic>
      <p:sp>
        <p:nvSpPr>
          <p:cNvPr id="12" name="Oval 11"/>
          <p:cNvSpPr/>
          <p:nvPr/>
        </p:nvSpPr>
        <p:spPr>
          <a:xfrm>
            <a:off x="1988443" y="3947348"/>
            <a:ext cx="1303678" cy="332269"/>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2788920"/>
            <a:ext cx="3566160" cy="1371600"/>
          </a:xfrm>
          <a:prstGeom prst="rect">
            <a:avLst/>
          </a:prstGeom>
          <a:noFill/>
        </p:spPr>
        <p:txBody>
          <a:bodyPr wrap="square" anchor="t" lIns="0" rIns="0" tIns="0" bIns="0">
            <a:spAutoFit/>
          </a:bodyPr>
          <a:lstStyle/>
          <a:p>
            <a:pPr algn="l">
              <a:spcAft>
                <a:spcPts val="400"/>
              </a:spcAft>
            </a:pPr>
            <a:r>
              <a:rPr sz="1350" b="1" i="0">
                <a:solidFill>
                  <a:srgbClr val="17365D"/>
                </a:solidFill>
                <a:latin typeface="Aptos"/>
                <a:ea typeface="Aptos"/>
                <a:cs typeface="Aptos"/>
              </a:rPr>
              <a:t>…how quickly the paint begins to curl and flake off — vibrant pieces of history are lost in a very short time.</a:t>
            </a:r>
          </a:p>
        </p:txBody>
      </p:sp>
      <p:sp>
        <p:nvSpPr>
          <p:cNvPr id="14" name="TextBox 13"/>
          <p:cNvSpPr txBox="1"/>
          <p:nvPr/>
        </p:nvSpPr>
        <p:spPr>
          <a:xfrm>
            <a:off x="8275320" y="4297680"/>
            <a:ext cx="3566160" cy="1828800"/>
          </a:xfrm>
          <a:prstGeom prst="rect">
            <a:avLst/>
          </a:prstGeom>
          <a:noFill/>
        </p:spPr>
        <p:txBody>
          <a:bodyPr wrap="square" anchor="t" lIns="0" rIns="0" tIns="0" bIns="0">
            <a:spAutoFit/>
          </a:bodyPr>
          <a:lstStyle/>
          <a:p>
            <a:pPr algn="l">
              <a:spcAft>
                <a:spcPts val="400"/>
              </a:spcAft>
            </a:pPr>
            <a:r>
              <a:rPr sz="1050" b="0" i="0">
                <a:solidFill>
                  <a:srgbClr val="5B7083"/>
                </a:solidFill>
                <a:latin typeface="Aptos"/>
                <a:ea typeface="Aptos"/>
                <a:cs typeface="Aptos"/>
              </a:rPr>
              <a:t>Lines 58–61: “…the lacquer underneath the paint begins to curl after 15 seconds and flake off in just four minutes — vibrant pieces of history lost in the time it takes to boil an egg.” — a boiled egg is ready in minutes; the paint disappears just as fast.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par>
                                      <p:cTn id="1" fill="hold">
                                        <p:stCondLst>
                                          <p:cond delay="0"/>
                                        </p:stCondLst>
                                        <p:childTnLst>
                                          <p:set>
                                            <p:cBhvr>
                                              <p:cTn id="2" dur="1" fill="hold">
                                                <p:stCondLst>
                                                  <p:cond delay="0"/>
                                                </p:stCondLst>
                                              </p:cTn>
                                              <p:tgtEl>
                                                <p:spTgt spid="13"/>
                                              </p:tgtEl>
                                              <p:attrNameLst>
                                                <p:attrName>style.visibility</p:attrName>
                                              </p:attrNameLst>
                                            </p:cBhvr>
                                            <p:to>
                                              <p:strVal val="visible"/>
                                            </p:to>
                                          </p:set>
                                          <p:animEffect transition="in" filter="fade">
                                            <p:cBhvr>
                                              <p:cTn id="3" dur="500"/>
                                              <p:tgtEl>
                                                <p:spTgt spid="13"/>
                                              </p:tgtEl>
                                            </p:cBhvr>
                                          </p:animEffect>
                                        </p:childTnLst>
                                      </p:cTn>
                                    </p:par>
                                    <p:par>
                                      <p:cTn id="4" fill="hold">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500"/>
                                              <p:tgtEl>
                                                <p:spTgt spid="12"/>
                                              </p:tgtEl>
                                            </p:cBhvr>
                                          </p:animEffect>
                                        </p:childTnLst>
                                      </p:cTn>
                                    </p:par>
                                  </p:childTnLst>
                                </p:cTn>
                              </p:par>
                              <p:par>
                                <p:cTn id="13"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046720" cy="274320"/>
          </a:xfrm>
          <a:prstGeom prst="rect">
            <a:avLst/>
          </a:prstGeom>
          <a:noFill/>
        </p:spPr>
        <p:txBody>
          <a:bodyPr wrap="square" anchor="t" lIns="0" rIns="0" tIns="0" bIns="0">
            <a:spAutoFit/>
          </a:bodyPr>
          <a:lstStyle/>
          <a:p>
            <a:pPr algn="l">
              <a:spcAft>
                <a:spcPts val="400"/>
              </a:spcAft>
            </a:pPr>
            <a:r>
              <a:rPr sz="1000" b="1" i="0">
                <a:solidFill>
                  <a:srgbClr val="45B7A5"/>
                </a:solidFill>
                <a:latin typeface="Aptos"/>
                <a:ea typeface="Aptos"/>
                <a:cs typeface="Aptos"/>
              </a:rPr>
              <a:t>QUESTION 6 OF 9</a:t>
            </a:r>
          </a:p>
        </p:txBody>
      </p:sp>
      <p:sp>
        <p:nvSpPr>
          <p:cNvPr id="4" name="TextBox 3"/>
          <p:cNvSpPr txBox="1"/>
          <p:nvPr/>
        </p:nvSpPr>
        <p:spPr>
          <a:xfrm>
            <a:off x="502920" y="640080"/>
            <a:ext cx="10515600" cy="594360"/>
          </a:xfrm>
          <a:prstGeom prst="rect">
            <a:avLst/>
          </a:prstGeom>
          <a:noFill/>
        </p:spPr>
        <p:txBody>
          <a:bodyPr wrap="square" anchor="t" lIns="0" rIns="0" tIns="0" bIns="0">
            <a:spAutoFit/>
          </a:bodyPr>
          <a:lstStyle/>
          <a:p>
            <a:pPr algn="l">
              <a:spcAft>
                <a:spcPts val="400"/>
              </a:spcAft>
            </a:pPr>
            <a:r>
              <a:rPr sz="2600" b="1" i="0">
                <a:solidFill>
                  <a:srgbClr val="17365D"/>
                </a:solidFill>
                <a:latin typeface="Aptos"/>
                <a:ea typeface="Aptos"/>
                <a:cs typeface="Aptos"/>
              </a:rPr>
              <a:t>Read the paragraph — then write your answer</a:t>
            </a:r>
          </a:p>
        </p:txBody>
      </p:sp>
      <p:sp>
        <p:nvSpPr>
          <p:cNvPr id="5" name="Oval 4"/>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28248"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146304"/>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57432"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256032"/>
            <a:ext cx="2377440" cy="365760"/>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(40%)</a:t>
            </a:r>
          </a:p>
        </p:txBody>
      </p:sp>
      <p:sp>
        <p:nvSpPr>
          <p:cNvPr id="10" name="TextBox 9"/>
          <p:cNvSpPr txBox="1"/>
          <p:nvPr/>
        </p:nvSpPr>
        <p:spPr>
          <a:xfrm>
            <a:off x="521207" y="1234440"/>
            <a:ext cx="11155680" cy="1143000"/>
          </a:xfrm>
          <a:prstGeom prst="rect">
            <a:avLst/>
          </a:prstGeom>
          <a:noFill/>
        </p:spPr>
        <p:txBody>
          <a:bodyPr wrap="square" anchor="t" lIns="0" rIns="0" tIns="0" bIns="0">
            <a:spAutoFit/>
          </a:bodyPr>
          <a:lstStyle/>
          <a:p>
            <a:pPr algn="l">
              <a:spcAft>
                <a:spcPts val="400"/>
              </a:spcAft>
            </a:pPr>
            <a:r>
              <a:rPr sz="1500" b="1" i="0">
                <a:solidFill>
                  <a:srgbClr val="17365D"/>
                </a:solidFill>
                <a:latin typeface="Aptos"/>
                <a:ea typeface="Aptos"/>
                <a:cs typeface="Aptos"/>
              </a:rPr>
              <a:t>Who developed PEG (line 76)?</a:t>
            </a:r>
          </a:p>
        </p:txBody>
      </p:sp>
      <p:pic>
        <p:nvPicPr>
          <p:cNvPr id="11" name="Picture 10" descr="q6.png"/>
          <p:cNvPicPr>
            <a:picLocks noChangeAspect="1"/>
          </p:cNvPicPr>
          <p:nvPr/>
        </p:nvPicPr>
        <p:blipFill>
          <a:blip r:embed="rId2"/>
          <a:stretch>
            <a:fillRect/>
          </a:stretch>
        </p:blipFill>
        <p:spPr>
          <a:xfrm>
            <a:off x="502920" y="2788920"/>
            <a:ext cx="6684706" cy="2240280"/>
          </a:xfrm>
          <a:prstGeom prst="rect">
            <a:avLst/>
          </a:prstGeom>
        </p:spPr>
      </p:pic>
      <p:sp>
        <p:nvSpPr>
          <p:cNvPr id="12" name="Oval 11"/>
          <p:cNvSpPr/>
          <p:nvPr/>
        </p:nvSpPr>
        <p:spPr>
          <a:xfrm>
            <a:off x="3085639" y="3884540"/>
            <a:ext cx="706263" cy="320040"/>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2788920"/>
            <a:ext cx="3566160" cy="1371600"/>
          </a:xfrm>
          <a:prstGeom prst="rect">
            <a:avLst/>
          </a:prstGeom>
          <a:noFill/>
        </p:spPr>
        <p:txBody>
          <a:bodyPr wrap="square" anchor="t" lIns="0" rIns="0" tIns="0" bIns="0">
            <a:spAutoFit/>
          </a:bodyPr>
          <a:lstStyle/>
          <a:p>
            <a:pPr algn="l">
              <a:spcAft>
                <a:spcPts val="400"/>
              </a:spcAft>
            </a:pPr>
            <a:r>
              <a:rPr sz="1350" b="1" i="0">
                <a:solidFill>
                  <a:srgbClr val="17365D"/>
                </a:solidFill>
                <a:latin typeface="Aptos"/>
                <a:ea typeface="Aptos"/>
                <a:cs typeface="Aptos"/>
              </a:rPr>
              <a:t>Chinese researchers (working together) with experts from the Conservation Office in Germany.</a:t>
            </a:r>
          </a:p>
        </p:txBody>
      </p:sp>
      <p:sp>
        <p:nvSpPr>
          <p:cNvPr id="14" name="TextBox 13"/>
          <p:cNvSpPr txBox="1"/>
          <p:nvPr/>
        </p:nvSpPr>
        <p:spPr>
          <a:xfrm>
            <a:off x="8275320" y="4297680"/>
            <a:ext cx="3566160" cy="1828800"/>
          </a:xfrm>
          <a:prstGeom prst="rect">
            <a:avLst/>
          </a:prstGeom>
          <a:noFill/>
        </p:spPr>
        <p:txBody>
          <a:bodyPr wrap="square" anchor="t" lIns="0" rIns="0" tIns="0" bIns="0">
            <a:spAutoFit/>
          </a:bodyPr>
          <a:lstStyle/>
          <a:p>
            <a:pPr algn="l">
              <a:spcAft>
                <a:spcPts val="400"/>
              </a:spcAft>
            </a:pPr>
            <a:r>
              <a:rPr sz="1050" b="0" i="0">
                <a:solidFill>
                  <a:srgbClr val="5B7083"/>
                </a:solidFill>
                <a:latin typeface="Aptos"/>
                <a:ea typeface="Aptos"/>
                <a:cs typeface="Aptos"/>
              </a:rPr>
              <a:t>Paragraph 7 (lines 74–76): “…Chinese researchers started working with experts from the Conservation Office in Germany to develop a preservative known as PEG…” — BOTH groups developed it; one side only lost the mark.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par>
                                      <p:cTn id="1" fill="hold">
                                        <p:stCondLst>
                                          <p:cond delay="0"/>
                                        </p:stCondLst>
                                        <p:childTnLst>
                                          <p:set>
                                            <p:cBhvr>
                                              <p:cTn id="2" dur="1" fill="hold">
                                                <p:stCondLst>
                                                  <p:cond delay="0"/>
                                                </p:stCondLst>
                                              </p:cTn>
                                              <p:tgtEl>
                                                <p:spTgt spid="13"/>
                                              </p:tgtEl>
                                              <p:attrNameLst>
                                                <p:attrName>style.visibility</p:attrName>
                                              </p:attrNameLst>
                                            </p:cBhvr>
                                            <p:to>
                                              <p:strVal val="visible"/>
                                            </p:to>
                                          </p:set>
                                          <p:animEffect transition="in" filter="fade">
                                            <p:cBhvr>
                                              <p:cTn id="3" dur="500"/>
                                              <p:tgtEl>
                                                <p:spTgt spid="13"/>
                                              </p:tgtEl>
                                            </p:cBhvr>
                                          </p:animEffect>
                                        </p:childTnLst>
                                      </p:cTn>
                                    </p:par>
                                    <p:par>
                                      <p:cTn id="4" fill="hold">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500"/>
                                              <p:tgtEl>
                                                <p:spTgt spid="12"/>
                                              </p:tgtEl>
                                            </p:cBhvr>
                                          </p:animEffect>
                                        </p:childTnLst>
                                      </p:cTn>
                                    </p:par>
                                  </p:childTnLst>
                                </p:cTn>
                              </p:par>
                              <p:par>
                                <p:cTn id="13"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046720" cy="274320"/>
          </a:xfrm>
          <a:prstGeom prst="rect">
            <a:avLst/>
          </a:prstGeom>
          <a:noFill/>
        </p:spPr>
        <p:txBody>
          <a:bodyPr wrap="square" anchor="t" lIns="0" rIns="0" tIns="0" bIns="0">
            <a:spAutoFit/>
          </a:bodyPr>
          <a:lstStyle/>
          <a:p>
            <a:pPr algn="l">
              <a:spcAft>
                <a:spcPts val="400"/>
              </a:spcAft>
            </a:pPr>
            <a:r>
              <a:rPr sz="1000" b="1" i="0">
                <a:solidFill>
                  <a:srgbClr val="45B7A5"/>
                </a:solidFill>
                <a:latin typeface="Aptos"/>
                <a:ea typeface="Aptos"/>
                <a:cs typeface="Aptos"/>
              </a:rPr>
              <a:t>QUESTION 7 OF 9</a:t>
            </a:r>
          </a:p>
        </p:txBody>
      </p:sp>
      <p:sp>
        <p:nvSpPr>
          <p:cNvPr id="4" name="TextBox 3"/>
          <p:cNvSpPr txBox="1"/>
          <p:nvPr/>
        </p:nvSpPr>
        <p:spPr>
          <a:xfrm>
            <a:off x="502920" y="640080"/>
            <a:ext cx="10515600" cy="594360"/>
          </a:xfrm>
          <a:prstGeom prst="rect">
            <a:avLst/>
          </a:prstGeom>
          <a:noFill/>
        </p:spPr>
        <p:txBody>
          <a:bodyPr wrap="square" anchor="t" lIns="0" rIns="0" tIns="0" bIns="0">
            <a:spAutoFit/>
          </a:bodyPr>
          <a:lstStyle/>
          <a:p>
            <a:pPr algn="l">
              <a:spcAft>
                <a:spcPts val="400"/>
              </a:spcAft>
            </a:pPr>
            <a:r>
              <a:rPr sz="2600" b="1" i="0">
                <a:solidFill>
                  <a:srgbClr val="17365D"/>
                </a:solidFill>
                <a:latin typeface="Aptos"/>
                <a:ea typeface="Aptos"/>
                <a:cs typeface="Aptos"/>
              </a:rPr>
              <a:t>Read the paragraph — then write your answer</a:t>
            </a:r>
          </a:p>
        </p:txBody>
      </p:sp>
      <p:sp>
        <p:nvSpPr>
          <p:cNvPr id="5" name="Oval 4"/>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28248"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146304"/>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57432"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256032"/>
            <a:ext cx="2377440" cy="365760"/>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(74%)</a:t>
            </a:r>
          </a:p>
        </p:txBody>
      </p:sp>
      <p:sp>
        <p:nvSpPr>
          <p:cNvPr id="10" name="TextBox 9"/>
          <p:cNvSpPr txBox="1"/>
          <p:nvPr/>
        </p:nvSpPr>
        <p:spPr>
          <a:xfrm>
            <a:off x="521207" y="1234440"/>
            <a:ext cx="11155680" cy="1143000"/>
          </a:xfrm>
          <a:prstGeom prst="rect">
            <a:avLst/>
          </a:prstGeom>
          <a:noFill/>
        </p:spPr>
        <p:txBody>
          <a:bodyPr wrap="square" anchor="t" lIns="0" rIns="0" tIns="0" bIns="0">
            <a:spAutoFit/>
          </a:bodyPr>
          <a:lstStyle/>
          <a:p>
            <a:pPr algn="l">
              <a:spcAft>
                <a:spcPts val="400"/>
              </a:spcAft>
            </a:pPr>
            <a:r>
              <a:rPr sz="1500" b="1" i="0">
                <a:solidFill>
                  <a:srgbClr val="17365D"/>
                </a:solidFill>
                <a:latin typeface="Aptos"/>
                <a:ea typeface="Aptos"/>
                <a:cs typeface="Aptos"/>
              </a:rPr>
              <a:t>What is the purpose of wrapping the artifact in plastic?</a:t>
            </a:r>
          </a:p>
        </p:txBody>
      </p:sp>
      <p:pic>
        <p:nvPicPr>
          <p:cNvPr id="11" name="Picture 10" descr="q7.png"/>
          <p:cNvPicPr>
            <a:picLocks noChangeAspect="1"/>
          </p:cNvPicPr>
          <p:nvPr/>
        </p:nvPicPr>
        <p:blipFill>
          <a:blip r:embed="rId2"/>
          <a:stretch>
            <a:fillRect/>
          </a:stretch>
        </p:blipFill>
        <p:spPr>
          <a:xfrm>
            <a:off x="502920" y="2788920"/>
            <a:ext cx="7176654" cy="2240280"/>
          </a:xfrm>
          <a:prstGeom prst="rect">
            <a:avLst/>
          </a:prstGeom>
        </p:spPr>
      </p:pic>
      <p:sp>
        <p:nvSpPr>
          <p:cNvPr id="12" name="Oval 11"/>
          <p:cNvSpPr/>
          <p:nvPr/>
        </p:nvSpPr>
        <p:spPr>
          <a:xfrm>
            <a:off x="3935383" y="3368732"/>
            <a:ext cx="971203" cy="411480"/>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2788920"/>
            <a:ext cx="3566160" cy="1371600"/>
          </a:xfrm>
          <a:prstGeom prst="rect">
            <a:avLst/>
          </a:prstGeom>
          <a:noFill/>
        </p:spPr>
        <p:txBody>
          <a:bodyPr wrap="square" anchor="t" lIns="0" rIns="0" tIns="0" bIns="0">
            <a:spAutoFit/>
          </a:bodyPr>
          <a:lstStyle/>
          <a:p>
            <a:pPr algn="l">
              <a:spcAft>
                <a:spcPts val="400"/>
              </a:spcAft>
            </a:pPr>
            <a:r>
              <a:rPr sz="1350" b="1" i="0">
                <a:solidFill>
                  <a:srgbClr val="17365D"/>
                </a:solidFill>
                <a:latin typeface="Aptos"/>
                <a:ea typeface="Aptos"/>
                <a:cs typeface="Aptos"/>
              </a:rPr>
              <a:t>To keep in the protective moisture / to keep the artifact wet / to protect it from the dry air.</a:t>
            </a:r>
          </a:p>
        </p:txBody>
      </p:sp>
      <p:sp>
        <p:nvSpPr>
          <p:cNvPr id="14" name="TextBox 13"/>
          <p:cNvSpPr txBox="1"/>
          <p:nvPr/>
        </p:nvSpPr>
        <p:spPr>
          <a:xfrm>
            <a:off x="8275320" y="4297680"/>
            <a:ext cx="3566160" cy="1828800"/>
          </a:xfrm>
          <a:prstGeom prst="rect">
            <a:avLst/>
          </a:prstGeom>
          <a:noFill/>
        </p:spPr>
        <p:txBody>
          <a:bodyPr wrap="square" anchor="t" lIns="0" rIns="0" tIns="0" bIns="0">
            <a:spAutoFit/>
          </a:bodyPr>
          <a:lstStyle/>
          <a:p>
            <a:pPr algn="l">
              <a:spcAft>
                <a:spcPts val="400"/>
              </a:spcAft>
            </a:pPr>
            <a:r>
              <a:rPr sz="1050" b="0" i="0">
                <a:solidFill>
                  <a:srgbClr val="5B7083"/>
                </a:solidFill>
                <a:latin typeface="Aptos"/>
                <a:ea typeface="Aptos"/>
                <a:cs typeface="Aptos"/>
              </a:rPr>
              <a:t>Paragraph 7 (lines 79–81): “…workers sprayed any bit of exposed color with the solution, then wrapped it in plastic to keep in the protective moisture.” — purpose answers start with “to …” or “so that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par>
                                      <p:cTn id="1" fill="hold">
                                        <p:stCondLst>
                                          <p:cond delay="0"/>
                                        </p:stCondLst>
                                        <p:childTnLst>
                                          <p:set>
                                            <p:cBhvr>
                                              <p:cTn id="2" dur="1" fill="hold">
                                                <p:stCondLst>
                                                  <p:cond delay="0"/>
                                                </p:stCondLst>
                                              </p:cTn>
                                              <p:tgtEl>
                                                <p:spTgt spid="13"/>
                                              </p:tgtEl>
                                              <p:attrNameLst>
                                                <p:attrName>style.visibility</p:attrName>
                                              </p:attrNameLst>
                                            </p:cBhvr>
                                            <p:to>
                                              <p:strVal val="visible"/>
                                            </p:to>
                                          </p:set>
                                          <p:animEffect transition="in" filter="fade">
                                            <p:cBhvr>
                                              <p:cTn id="3" dur="500"/>
                                              <p:tgtEl>
                                                <p:spTgt spid="13"/>
                                              </p:tgtEl>
                                            </p:cBhvr>
                                          </p:animEffect>
                                        </p:childTnLst>
                                      </p:cTn>
                                    </p:par>
                                    <p:par>
                                      <p:cTn id="4" fill="hold">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500"/>
                                              <p:tgtEl>
                                                <p:spTgt spid="12"/>
                                              </p:tgtEl>
                                            </p:cBhvr>
                                          </p:animEffect>
                                        </p:childTnLst>
                                      </p:cTn>
                                    </p:par>
                                  </p:childTnLst>
                                </p:cTn>
                              </p:par>
                              <p:par>
                                <p:cTn id="13"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046720" cy="274320"/>
          </a:xfrm>
          <a:prstGeom prst="rect">
            <a:avLst/>
          </a:prstGeom>
          <a:noFill/>
        </p:spPr>
        <p:txBody>
          <a:bodyPr wrap="square" anchor="t" lIns="0" rIns="0" tIns="0" bIns="0">
            <a:spAutoFit/>
          </a:bodyPr>
          <a:lstStyle/>
          <a:p>
            <a:pPr algn="l">
              <a:spcAft>
                <a:spcPts val="400"/>
              </a:spcAft>
            </a:pPr>
            <a:r>
              <a:rPr sz="1000" b="1" i="0">
                <a:solidFill>
                  <a:srgbClr val="45B7A5"/>
                </a:solidFill>
                <a:latin typeface="Aptos"/>
                <a:ea typeface="Aptos"/>
                <a:cs typeface="Aptos"/>
              </a:rPr>
              <a:t>QUESTION 8 OF 9</a:t>
            </a:r>
          </a:p>
        </p:txBody>
      </p:sp>
      <p:sp>
        <p:nvSpPr>
          <p:cNvPr id="4" name="TextBox 3"/>
          <p:cNvSpPr txBox="1"/>
          <p:nvPr/>
        </p:nvSpPr>
        <p:spPr>
          <a:xfrm>
            <a:off x="502920" y="640080"/>
            <a:ext cx="10515600" cy="594360"/>
          </a:xfrm>
          <a:prstGeom prst="rect">
            <a:avLst/>
          </a:prstGeom>
          <a:noFill/>
        </p:spPr>
        <p:txBody>
          <a:bodyPr wrap="square" anchor="t" lIns="0" rIns="0" tIns="0" bIns="0">
            <a:spAutoFit/>
          </a:bodyPr>
          <a:lstStyle/>
          <a:p>
            <a:pPr algn="l">
              <a:spcAft>
                <a:spcPts val="400"/>
              </a:spcAft>
            </a:pPr>
            <a:r>
              <a:rPr sz="2600" b="1" i="0">
                <a:solidFill>
                  <a:srgbClr val="17365D"/>
                </a:solidFill>
                <a:latin typeface="Aptos"/>
                <a:ea typeface="Aptos"/>
                <a:cs typeface="Aptos"/>
              </a:rPr>
              <a:t>Read the paragraph — then write your answer</a:t>
            </a:r>
          </a:p>
        </p:txBody>
      </p:sp>
      <p:sp>
        <p:nvSpPr>
          <p:cNvPr id="5" name="Oval 4"/>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28248"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146304"/>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57432"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256032"/>
            <a:ext cx="2377440" cy="365760"/>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(28%)</a:t>
            </a:r>
          </a:p>
        </p:txBody>
      </p:sp>
      <p:sp>
        <p:nvSpPr>
          <p:cNvPr id="10" name="TextBox 9"/>
          <p:cNvSpPr txBox="1"/>
          <p:nvPr/>
        </p:nvSpPr>
        <p:spPr>
          <a:xfrm>
            <a:off x="521207" y="1234440"/>
            <a:ext cx="11155680" cy="1143000"/>
          </a:xfrm>
          <a:prstGeom prst="rect">
            <a:avLst/>
          </a:prstGeom>
          <a:noFill/>
        </p:spPr>
        <p:txBody>
          <a:bodyPr wrap="square" anchor="t" lIns="0" rIns="0" tIns="0" bIns="0">
            <a:spAutoFit/>
          </a:bodyPr>
          <a:lstStyle/>
          <a:p>
            <a:pPr algn="l">
              <a:spcAft>
                <a:spcPts val="400"/>
              </a:spcAft>
            </a:pPr>
            <a:r>
              <a:rPr sz="1500" b="1" i="0">
                <a:solidFill>
                  <a:srgbClr val="17365D"/>
                </a:solidFill>
                <a:latin typeface="Aptos"/>
                <a:ea typeface="Aptos"/>
                <a:cs typeface="Aptos"/>
              </a:rPr>
              <a:t>According to Rong Bo, why should the earth be treated like an artifact (lines 112–113)?</a:t>
            </a:r>
          </a:p>
        </p:txBody>
      </p:sp>
      <p:pic>
        <p:nvPicPr>
          <p:cNvPr id="11" name="Picture 10" descr="q8.png"/>
          <p:cNvPicPr>
            <a:picLocks noChangeAspect="1"/>
          </p:cNvPicPr>
          <p:nvPr/>
        </p:nvPicPr>
        <p:blipFill>
          <a:blip r:embed="rId2"/>
          <a:stretch>
            <a:fillRect/>
          </a:stretch>
        </p:blipFill>
        <p:spPr>
          <a:xfrm>
            <a:off x="502920" y="2788920"/>
            <a:ext cx="7315200" cy="1904632"/>
          </a:xfrm>
          <a:prstGeom prst="rect">
            <a:avLst/>
          </a:prstGeom>
        </p:spPr>
      </p:pic>
      <p:sp>
        <p:nvSpPr>
          <p:cNvPr id="12" name="Oval 11"/>
          <p:cNvSpPr/>
          <p:nvPr/>
        </p:nvSpPr>
        <p:spPr>
          <a:xfrm>
            <a:off x="4271821" y="3482457"/>
            <a:ext cx="842579" cy="320040"/>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2788920"/>
            <a:ext cx="3566160" cy="1371600"/>
          </a:xfrm>
          <a:prstGeom prst="rect">
            <a:avLst/>
          </a:prstGeom>
          <a:noFill/>
        </p:spPr>
        <p:txBody>
          <a:bodyPr wrap="square" anchor="t" lIns="0" rIns="0" tIns="0" bIns="0">
            <a:spAutoFit/>
          </a:bodyPr>
          <a:lstStyle/>
          <a:p>
            <a:pPr algn="l">
              <a:spcAft>
                <a:spcPts val="400"/>
              </a:spcAft>
            </a:pPr>
            <a:r>
              <a:rPr sz="1350" b="1" i="0">
                <a:solidFill>
                  <a:srgbClr val="17365D"/>
                </a:solidFill>
                <a:latin typeface="Aptos"/>
                <a:ea typeface="Aptos"/>
                <a:cs typeface="Aptos"/>
              </a:rPr>
              <a:t>Because so much color and artistry has been imprinted on the soil — the ancient paint adheres to dirt more readily than to lacquer.</a:t>
            </a:r>
          </a:p>
        </p:txBody>
      </p:sp>
      <p:sp>
        <p:nvSpPr>
          <p:cNvPr id="14" name="TextBox 13"/>
          <p:cNvSpPr txBox="1"/>
          <p:nvPr/>
        </p:nvSpPr>
        <p:spPr>
          <a:xfrm>
            <a:off x="8275320" y="4297680"/>
            <a:ext cx="3566160" cy="1828800"/>
          </a:xfrm>
          <a:prstGeom prst="rect">
            <a:avLst/>
          </a:prstGeom>
          <a:noFill/>
        </p:spPr>
        <p:txBody>
          <a:bodyPr wrap="square" anchor="t" lIns="0" rIns="0" tIns="0" bIns="0">
            <a:spAutoFit/>
          </a:bodyPr>
          <a:lstStyle/>
          <a:p>
            <a:pPr algn="l">
              <a:spcAft>
                <a:spcPts val="400"/>
              </a:spcAft>
            </a:pPr>
            <a:r>
              <a:rPr sz="1050" b="0" i="0">
                <a:solidFill>
                  <a:srgbClr val="5B7083"/>
                </a:solidFill>
                <a:latin typeface="Aptos"/>
                <a:ea typeface="Aptos"/>
                <a:cs typeface="Aptos"/>
              </a:rPr>
              <a:t>Paragraph 10 (lines 110–113): “…the ancient paint, alas, adheres to dirt more readily than to lacquer — … ‘We are treating the earth as an artifact,’ says Rong Bo…” — the soil itself holds the ancient paint. Hardest question this lesson (28%).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par>
                                      <p:cTn id="1" fill="hold">
                                        <p:stCondLst>
                                          <p:cond delay="0"/>
                                        </p:stCondLst>
                                        <p:childTnLst>
                                          <p:set>
                                            <p:cBhvr>
                                              <p:cTn id="2" dur="1" fill="hold">
                                                <p:stCondLst>
                                                  <p:cond delay="0"/>
                                                </p:stCondLst>
                                              </p:cTn>
                                              <p:tgtEl>
                                                <p:spTgt spid="13"/>
                                              </p:tgtEl>
                                              <p:attrNameLst>
                                                <p:attrName>style.visibility</p:attrName>
                                              </p:attrNameLst>
                                            </p:cBhvr>
                                            <p:to>
                                              <p:strVal val="visible"/>
                                            </p:to>
                                          </p:set>
                                          <p:animEffect transition="in" filter="fade">
                                            <p:cBhvr>
                                              <p:cTn id="3" dur="500"/>
                                              <p:tgtEl>
                                                <p:spTgt spid="13"/>
                                              </p:tgtEl>
                                            </p:cBhvr>
                                          </p:animEffect>
                                        </p:childTnLst>
                                      </p:cTn>
                                    </p:par>
                                    <p:par>
                                      <p:cTn id="4" fill="hold">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500"/>
                                              <p:tgtEl>
                                                <p:spTgt spid="12"/>
                                              </p:tgtEl>
                                            </p:cBhvr>
                                          </p:animEffect>
                                        </p:childTnLst>
                                      </p:cTn>
                                    </p:par>
                                  </p:childTnLst>
                                </p:cTn>
                              </p:par>
                              <p:par>
                                <p:cTn id="13"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046720" cy="274320"/>
          </a:xfrm>
          <a:prstGeom prst="rect">
            <a:avLst/>
          </a:prstGeom>
          <a:noFill/>
        </p:spPr>
        <p:txBody>
          <a:bodyPr wrap="square" anchor="t" lIns="0" rIns="0" tIns="0" bIns="0">
            <a:spAutoFit/>
          </a:bodyPr>
          <a:lstStyle/>
          <a:p>
            <a:pPr algn="l">
              <a:spcAft>
                <a:spcPts val="400"/>
              </a:spcAft>
            </a:pPr>
            <a:r>
              <a:rPr sz="1000" b="1" i="0">
                <a:solidFill>
                  <a:srgbClr val="45B7A5"/>
                </a:solidFill>
                <a:latin typeface="Aptos"/>
                <a:ea typeface="Aptos"/>
                <a:cs typeface="Aptos"/>
              </a:rPr>
              <a:t>QUESTION 9 OF 9</a:t>
            </a:r>
          </a:p>
        </p:txBody>
      </p:sp>
      <p:sp>
        <p:nvSpPr>
          <p:cNvPr id="4" name="TextBox 3"/>
          <p:cNvSpPr txBox="1"/>
          <p:nvPr/>
        </p:nvSpPr>
        <p:spPr>
          <a:xfrm>
            <a:off x="502920" y="640080"/>
            <a:ext cx="10515600" cy="594360"/>
          </a:xfrm>
          <a:prstGeom prst="rect">
            <a:avLst/>
          </a:prstGeom>
          <a:noFill/>
        </p:spPr>
        <p:txBody>
          <a:bodyPr wrap="square" anchor="t" lIns="0" rIns="0" tIns="0" bIns="0">
            <a:spAutoFit/>
          </a:bodyPr>
          <a:lstStyle/>
          <a:p>
            <a:pPr algn="l">
              <a:spcAft>
                <a:spcPts val="400"/>
              </a:spcAft>
            </a:pPr>
            <a:r>
              <a:rPr sz="2600" b="1" i="0">
                <a:solidFill>
                  <a:srgbClr val="17365D"/>
                </a:solidFill>
                <a:latin typeface="Aptos"/>
                <a:ea typeface="Aptos"/>
                <a:cs typeface="Aptos"/>
              </a:rPr>
              <a:t>Read the paragraph — then write your answer</a:t>
            </a:r>
          </a:p>
        </p:txBody>
      </p:sp>
      <p:sp>
        <p:nvSpPr>
          <p:cNvPr id="5" name="Oval 4"/>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28248"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146304"/>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57432" y="20116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256032"/>
            <a:ext cx="2377440" cy="365760"/>
          </a:xfrm>
          <a:prstGeom prst="rect">
            <a:avLst/>
          </a:prstGeom>
          <a:noFill/>
        </p:spPr>
        <p:txBody>
          <a:bodyPr wrap="square" anchor="t" lIns="0" rIns="0" tIns="0" bIns="0">
            <a:spAutoFit/>
          </a:bodyPr>
          <a:lstStyle/>
          <a:p>
            <a:pPr algn="l">
              <a:spcAft>
                <a:spcPts val="400"/>
              </a:spcAft>
            </a:pPr>
            <a:r>
              <a:rPr sz="1300" b="1" i="0">
                <a:solidFill>
                  <a:srgbClr val="5B7083"/>
                </a:solidFill>
                <a:latin typeface="Aptos"/>
                <a:ea typeface="Aptos"/>
                <a:cs typeface="Aptos"/>
              </a:rPr>
              <a:t>(47/62/63/63%)</a:t>
            </a:r>
          </a:p>
        </p:txBody>
      </p:sp>
      <p:sp>
        <p:nvSpPr>
          <p:cNvPr id="10" name="TextBox 9"/>
          <p:cNvSpPr txBox="1"/>
          <p:nvPr/>
        </p:nvSpPr>
        <p:spPr>
          <a:xfrm>
            <a:off x="521207" y="1234440"/>
            <a:ext cx="11155680" cy="1417320"/>
          </a:xfrm>
          <a:prstGeom prst="rect">
            <a:avLst/>
          </a:prstGeom>
          <a:noFill/>
        </p:spPr>
        <p:txBody>
          <a:bodyPr wrap="square" anchor="t" lIns="0" rIns="0" tIns="0" bIns="0">
            <a:spAutoFit/>
          </a:bodyPr>
          <a:lstStyle/>
          <a:p>
            <a:pPr algn="l">
              <a:spcAft>
                <a:spcPts val="400"/>
              </a:spcAft>
            </a:pPr>
            <a:r>
              <a:rPr sz="1500" b="1" i="0">
                <a:solidFill>
                  <a:srgbClr val="17365D"/>
                </a:solidFill>
                <a:latin typeface="Aptos"/>
                <a:ea typeface="Aptos"/>
                <a:cs typeface="Aptos"/>
              </a:rPr>
              <a:t>Based on the information in paragraph 10, complete the following text by writing ONE word to fill in each blank. You should make sure that your answers are grammatically correct, paying attention to word form, plurals, etc. (4 marks)</a:t>
            </a:r>
          </a:p>
          <a:p>
            <a:pPr algn="l">
              <a:spcAft>
                <a:spcPts val="400"/>
              </a:spcAft>
            </a:pPr>
            <a:r>
              <a:rPr sz="1300" b="1" i="0">
                <a:solidFill>
                  <a:srgbClr val="2F75B5"/>
                </a:solidFill>
                <a:latin typeface="Aptos"/>
                <a:ea typeface="Aptos"/>
                <a:cs typeface="Aptos"/>
              </a:rPr>
              <a:t>The next challenge for (i)________  is to (ii)________  a procedure for (iii)________  color to the warriors now that a (iv)________  has been developed to hold together the soil.</a:t>
            </a:r>
          </a:p>
        </p:txBody>
      </p:sp>
      <p:pic>
        <p:nvPicPr>
          <p:cNvPr id="11" name="Picture 10" descr="q9.png"/>
          <p:cNvPicPr>
            <a:picLocks noChangeAspect="1"/>
          </p:cNvPicPr>
          <p:nvPr/>
        </p:nvPicPr>
        <p:blipFill>
          <a:blip r:embed="rId2"/>
          <a:stretch>
            <a:fillRect/>
          </a:stretch>
        </p:blipFill>
        <p:spPr>
          <a:xfrm>
            <a:off x="502920" y="3063240"/>
            <a:ext cx="5050370" cy="2240280"/>
          </a:xfrm>
          <a:prstGeom prst="rect">
            <a:avLst/>
          </a:prstGeom>
        </p:spPr>
      </p:pic>
      <p:sp>
        <p:nvSpPr>
          <p:cNvPr id="12" name="Oval 11"/>
          <p:cNvSpPr/>
          <p:nvPr/>
        </p:nvSpPr>
        <p:spPr>
          <a:xfrm>
            <a:off x="711939" y="4120763"/>
            <a:ext cx="624177" cy="320040"/>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0" y="3063240"/>
            <a:ext cx="3291840" cy="1554480"/>
          </a:xfrm>
          <a:prstGeom prst="rect">
            <a:avLst/>
          </a:prstGeom>
          <a:noFill/>
        </p:spPr>
        <p:txBody>
          <a:bodyPr wrap="square" anchor="t" lIns="0" rIns="0" tIns="0" bIns="0">
            <a:spAutoFit/>
          </a:bodyPr>
          <a:lstStyle/>
          <a:p>
            <a:pPr algn="l">
              <a:spcAft>
                <a:spcPts val="400"/>
              </a:spcAft>
            </a:pPr>
            <a:r>
              <a:rPr sz="1250" b="1" i="0">
                <a:solidFill>
                  <a:srgbClr val="17365D"/>
                </a:solidFill>
                <a:latin typeface="Aptos"/>
                <a:ea typeface="Aptos"/>
                <a:cs typeface="Aptos"/>
              </a:rPr>
              <a:t>(i) Rong / chemists / researchers / scientists / experts / preservationists    (ii) create / find / develop / discover / invent    (iii) (re)applying    (iv) binding agent</a:t>
            </a:r>
          </a:p>
        </p:txBody>
      </p:sp>
      <p:sp>
        <p:nvSpPr>
          <p:cNvPr id="14" name="TextBox 13"/>
          <p:cNvSpPr txBox="1"/>
          <p:nvPr/>
        </p:nvSpPr>
        <p:spPr>
          <a:xfrm>
            <a:off x="5029200" y="4754880"/>
            <a:ext cx="3291840" cy="1828800"/>
          </a:xfrm>
          <a:prstGeom prst="rect">
            <a:avLst/>
          </a:prstGeom>
          <a:noFill/>
        </p:spPr>
        <p:txBody>
          <a:bodyPr wrap="square" anchor="t" lIns="0" rIns="0" tIns="0" bIns="0">
            <a:spAutoFit/>
          </a:bodyPr>
          <a:lstStyle/>
          <a:p>
            <a:pPr algn="l">
              <a:spcAft>
                <a:spcPts val="400"/>
              </a:spcAft>
            </a:pPr>
            <a:r>
              <a:rPr sz="1050" b="0" i="0">
                <a:solidFill>
                  <a:srgbClr val="5B7083"/>
                </a:solidFill>
                <a:latin typeface="Aptos"/>
                <a:ea typeface="Aptos"/>
                <a:cs typeface="Aptos"/>
              </a:rPr>
              <a:t>Paragraph 10 (lines 112–118): “…Rong Bo, the museum’s head chemist, who helped develop a binding agent that holds the soil together…. The next challenge, Rong says, will be to find an acceptable method for reapplying this color to the warriors.” — Blank (iv) is a singular noun: binding agent. Correct % per blank: 47 / 62 / 63 / 63.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par>
                                      <p:cTn id="1" fill="hold">
                                        <p:stCondLst>
                                          <p:cond delay="0"/>
                                        </p:stCondLst>
                                        <p:childTnLst>
                                          <p:set>
                                            <p:cBhvr>
                                              <p:cTn id="2" dur="1" fill="hold">
                                                <p:stCondLst>
                                                  <p:cond delay="0"/>
                                                </p:stCondLst>
                                              </p:cTn>
                                              <p:tgtEl>
                                                <p:spTgt spid="13"/>
                                              </p:tgtEl>
                                              <p:attrNameLst>
                                                <p:attrName>style.visibility</p:attrName>
                                              </p:attrNameLst>
                                            </p:cBhvr>
                                            <p:to>
                                              <p:strVal val="visible"/>
                                            </p:to>
                                          </p:set>
                                          <p:animEffect transition="in" filter="fade">
                                            <p:cBhvr>
                                              <p:cTn id="3" dur="500"/>
                                              <p:tgtEl>
                                                <p:spTgt spid="13"/>
                                              </p:tgtEl>
                                            </p:cBhvr>
                                          </p:animEffect>
                                        </p:childTnLst>
                                      </p:cTn>
                                    </p:par>
                                    <p:par>
                                      <p:cTn id="4" fill="hold">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500"/>
                                              <p:tgtEl>
                                                <p:spTgt spid="12"/>
                                              </p:tgtEl>
                                            </p:cBhvr>
                                          </p:animEffect>
                                        </p:childTnLst>
                                      </p:cTn>
                                    </p:par>
                                  </p:childTnLst>
                                </p:cTn>
                              </p:par>
                              <p:par>
                                <p:cTn id="13"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