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match each word (1-10) with a definition (A-J) before clicking. Reveal one letter per click.</a:t>
            </a:r>
          </a:p>
          <a:p>
            <a:r>
              <a:t>Key: 1=C 2=E 3=A 4=J 5=B 6=I 7=H 8=G 9=D 10=F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signal words BEFORE clicking. Then click once to reveal the model answer + clues.</a:t>
            </a:r>
          </a:p>
          <a:p>
            <a:r>
              <a:t>What is the purpose of the ‘surprise meal’ scheme?</a:t>
            </a:r>
          </a:p>
          <a:p>
            <a:r>
              <a:t>Model answer:  To keep good food out of the landfill / to reduce the amount of edible food being wasted.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signal words BEFORE clicking. Then click once to reveal the model answer + clues.</a:t>
            </a:r>
          </a:p>
          <a:p>
            <a:r>
              <a:t>According to the paragraph, why do few families refuse a second visit to the museum?</a:t>
            </a:r>
          </a:p>
          <a:p>
            <a:r>
              <a:t>Model answer:  Because the museum’s entrance fee is low / modest.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It refers to transforming / rebuilding a heap of clay fragments into a full-size warrior — reassembling an army of terra-cotta warriors.</a:t>
            </a:r>
          </a:p>
          <a:p>
            <a:r>
              <a:t>Tip: Reference word — read the sentence before ‘the task’.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They were digging a well (for their orchard).</a:t>
            </a:r>
          </a:p>
          <a:p>
            <a:r>
              <a:t>Tip: Don’t stop at the first clue — the full action is ‘digging a well’.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monochrome</a:t>
            </a:r>
          </a:p>
          <a:p>
            <a:r>
              <a:t>Tip: Word-finding — mono = one, chrome = colour.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Because the colors were exposed to the (dry Xian) air and disintegrated.</a:t>
            </a:r>
          </a:p>
          <a:p>
            <a:r>
              <a:t>Tip: ‘Why’ needs a CAUSE: exposure to air → disintegrated.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…how quickly / fast the paint begins to curl and flake off — vibrant pieces of history are lost in a very short time.</a:t>
            </a:r>
          </a:p>
          <a:p>
            <a:r>
              <a:t>Tip: ‘To show…’ — say what the example demonstrates (speed).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Chinese researchers (working together) with experts from the Conservation Office in Germany.</a:t>
            </a:r>
          </a:p>
          <a:p>
            <a:r>
              <a:t>Tip: Who together? Read the whole sentence — two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To keep in the protective moisture / to keep the artifact wet / to protect it from the dry air.</a:t>
            </a:r>
          </a:p>
          <a:p>
            <a:r>
              <a:t>Tip: Purpose → answer with ‘to…’ / ‘so that…’.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Because so much color and artistry has been imprinted on the soil — the ancient paint adheres to dirt more readily than to lacquer.</a:t>
            </a:r>
          </a:p>
          <a:p>
            <a:r>
              <a:t>Tip: The hardest — the reasoning sits in the dashed aside.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answer before clicking. Then click to reveal the answer and evidence.</a:t>
            </a:r>
          </a:p>
          <a:p>
            <a:r>
              <a:t>Expected: (i)  Rong (Bo) / chemists / researchers / scientists / experts</a:t>
            </a:r>
          </a:p>
          <a:p>
            <a:r>
              <a:t>(ii)  create / find / develop / discover / invent</a:t>
            </a:r>
          </a:p>
          <a:p>
            <a:r>
              <a:t>(iii)  (re)applying        (iv)  binding agent</a:t>
            </a:r>
          </a:p>
          <a:p>
            <a:r>
              <a:t>Tip: Check word form: (iv) must be a singular noun.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F.6 SP ENGLISH  •  2013 DSE 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7365D"/>
                </a:solidFill>
                <a:latin typeface="Aptos"/>
              </a:rPr>
              <a:t>English 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77724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7365D"/>
                </a:solidFill>
                <a:latin typeface="Aptos"/>
              </a:rPr>
              <a:t>Terra-cotta Warriors,</a:t>
            </a:r>
          </a:p>
          <a:p>
            <a:pPr algn="l">
              <a:lnSpc>
                <a:spcPct val="105000"/>
              </a:lnSpc>
            </a:pPr>
            <a:r>
              <a:rPr sz="3400" b="1">
                <a:solidFill>
                  <a:srgbClr val="17365D"/>
                </a:solidFill>
                <a:latin typeface="Aptos"/>
              </a:rPr>
              <a:t>in Color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8328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F75B5"/>
                </a:solidFill>
                <a:latin typeface="Aptos"/>
              </a:rPr>
              <a:t>Open-ended questions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737360"/>
            <a:ext cx="3840480" cy="310896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20116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F75B5"/>
                </a:solidFill>
                <a:latin typeface="Aptos"/>
              </a:rPr>
              <a:t>TODAY’S lesson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83464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7365D"/>
                </a:solidFill>
                <a:latin typeface="Aptos"/>
              </a:rPr>
              <a:t>10 Vocabulary items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17365D"/>
                </a:solidFill>
                <a:latin typeface="Apto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17365D"/>
                </a:solidFill>
                <a:latin typeface="Aptos"/>
              </a:rPr>
              <a:t>9 Open-ended questions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17365D"/>
                </a:solidFill>
                <a:latin typeface="Aptos"/>
              </a:rPr>
              <a:t>(12 marks)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6692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7083"/>
                </a:solidFill>
                <a:latin typeface="Aptos"/>
              </a:rPr>
              <a:t>DSE 2013 Part A  •  Reading for marks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WARM-UP  •  Key vocabulary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Key vocabulary: match the meanings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517904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160020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1  spectacle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0208" y="1563624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13" name="vocab_ans_1"/>
          <p:cNvSpPr txBox="1"/>
          <p:nvPr/>
        </p:nvSpPr>
        <p:spPr>
          <a:xfrm>
            <a:off x="3950208" y="1536192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600200"/>
            <a:ext cx="6583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A.  A king who rules a large country (an empire).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993391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075687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2  buried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039111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18" name="vocab_ans_2"/>
          <p:cNvSpPr txBox="1"/>
          <p:nvPr/>
        </p:nvSpPr>
        <p:spPr>
          <a:xfrm>
            <a:off x="3950208" y="2011679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075687"/>
            <a:ext cx="6583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B.  Small broken pieces of something.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468880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255117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3  emperor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0208" y="2514600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23" name="vocab_ans_3"/>
          <p:cNvSpPr txBox="1"/>
          <p:nvPr/>
        </p:nvSpPr>
        <p:spPr>
          <a:xfrm>
            <a:off x="3950208" y="2487168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80" y="2551176"/>
            <a:ext cx="6583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C.  An exciting show or scene that you watch.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944368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026663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4  archaeologists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0208" y="2990087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28" name="vocab_ans_4"/>
          <p:cNvSpPr txBox="1"/>
          <p:nvPr/>
        </p:nvSpPr>
        <p:spPr>
          <a:xfrm>
            <a:off x="3950208" y="2962656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3026663"/>
            <a:ext cx="6583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D.  Digging in the ground to find old things.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419856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350215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5  fragments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50208" y="3465576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33" name="vocab_ans_5"/>
          <p:cNvSpPr txBox="1"/>
          <p:nvPr/>
        </p:nvSpPr>
        <p:spPr>
          <a:xfrm>
            <a:off x="3950208" y="3438144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3502152"/>
            <a:ext cx="6583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E.  Put underground; covered with earth.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895344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" y="3977639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6  warriors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3941063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38" name="vocab_ans_6"/>
          <p:cNvSpPr txBox="1"/>
          <p:nvPr/>
        </p:nvSpPr>
        <p:spPr>
          <a:xfrm>
            <a:off x="3950208" y="3913631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3977639"/>
            <a:ext cx="6583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F.  Small parts that are left over; remains.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4370832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4944" y="44531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7  grandiose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50208" y="4416552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43" name="vocab_ans_7"/>
          <p:cNvSpPr txBox="1"/>
          <p:nvPr/>
        </p:nvSpPr>
        <p:spPr>
          <a:xfrm>
            <a:off x="3950208" y="4389120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3480" y="4453128"/>
            <a:ext cx="6583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G.  Good luck; finding something good by chance.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846320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4944" y="492861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8  serendipity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62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50208" y="4892040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48" name="vocab_ans_8"/>
          <p:cNvSpPr txBox="1"/>
          <p:nvPr/>
        </p:nvSpPr>
        <p:spPr>
          <a:xfrm>
            <a:off x="3950208" y="4864607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83480" y="4928616"/>
            <a:ext cx="6583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H.  Very grand and impressive; bigger than necessary.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321808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4944" y="540410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9  excavation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65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50208" y="536752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53" name="vocab_ans_9"/>
          <p:cNvSpPr txBox="1"/>
          <p:nvPr/>
        </p:nvSpPr>
        <p:spPr>
          <a:xfrm>
            <a:off x="3950208" y="5340096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83480" y="5404104"/>
            <a:ext cx="6583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I.  Soldiers who fight in battles.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797296"/>
            <a:ext cx="3310128" cy="402336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587959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7365D"/>
                </a:solidFill>
                <a:latin typeface="Aptos"/>
              </a:rPr>
              <a:t>10  remnants</a:t>
            </a:r>
            <a:r>
              <a:rPr sz="900" b="0">
                <a:solidFill>
                  <a:srgbClr val="5B7083"/>
                </a:solidFill>
                <a:latin typeface="Aptos"/>
              </a:rPr>
              <a:t>   Line 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50208" y="5843016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7083"/>
                </a:solidFill>
                <a:latin typeface="Aptos"/>
              </a:rPr>
              <a:t>_____</a:t>
            </a:r>
          </a:p>
        </p:txBody>
      </p:sp>
      <p:sp>
        <p:nvSpPr>
          <p:cNvPr id="58" name="vocab_ans_10"/>
          <p:cNvSpPr txBox="1"/>
          <p:nvPr/>
        </p:nvSpPr>
        <p:spPr>
          <a:xfrm>
            <a:off x="3950208" y="5815583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7365D"/>
                </a:solidFill>
                <a:latin typeface="Aptos"/>
              </a:rPr>
              <a:t>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83480" y="5879592"/>
            <a:ext cx="6583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7365D"/>
                </a:solidFill>
                <a:latin typeface="Aptos"/>
              </a:rPr>
              <a:t>J.  Scientists who study old things found in the ground.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What helps you gain the mark?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417320"/>
            <a:ext cx="10835640" cy="603504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72768"/>
            <a:ext cx="10424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65D"/>
                </a:solidFill>
                <a:latin typeface="Aptos"/>
              </a:rPr>
              <a:t>Hunting for reasons, purposes &amp; intentions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86000"/>
            <a:ext cx="5440680" cy="2514600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487168"/>
            <a:ext cx="5029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17365D"/>
                </a:solidFill>
                <a:latin typeface="Aptos"/>
              </a:rPr>
              <a:t>1  Easy to spot</a:t>
            </a:r>
          </a:p>
          <a:p>
            <a:pPr algn="l">
              <a:lnSpc>
                <a:spcPct val="112000"/>
              </a:lnSpc>
            </a:pPr>
            <a:r>
              <a:rPr sz="500" b="0">
                <a:solidFill>
                  <a:srgbClr val="17365D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17365D"/>
                </a:solidFill>
                <a:latin typeface="Aptos"/>
              </a:rPr>
              <a:t>because · since · as · due to · thanks to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17365D"/>
                </a:solidFill>
                <a:latin typeface="Aptos"/>
              </a:rPr>
              <a:t>so that · to + verb · in order to</a:t>
            </a:r>
          </a:p>
          <a:p>
            <a:pPr algn="l">
              <a:lnSpc>
                <a:spcPct val="112000"/>
              </a:lnSpc>
            </a:pPr>
            <a:r>
              <a:rPr sz="500" b="0">
                <a:solidFill>
                  <a:srgbClr val="17365D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5B7083"/>
                </a:solidFill>
                <a:latin typeface="Aptos"/>
              </a:rPr>
              <a:t>e.g. The paint flaked off because the air was dry.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286000"/>
            <a:ext cx="5285232" cy="2514600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487168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17365D"/>
                </a:solidFill>
                <a:latin typeface="Aptos"/>
              </a:rPr>
              <a:t>2  Easy to miss — watch out!</a:t>
            </a:r>
          </a:p>
          <a:p>
            <a:pPr algn="l">
              <a:lnSpc>
                <a:spcPct val="112000"/>
              </a:lnSpc>
            </a:pPr>
            <a:r>
              <a:rPr sz="500" b="0">
                <a:solidFill>
                  <a:srgbClr val="17365D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7365D"/>
                </a:solidFill>
                <a:latin typeface="Aptos"/>
              </a:rPr>
              <a:t>given + noun · with + noun · out of + noun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7365D"/>
                </a:solidFill>
                <a:latin typeface="Aptos"/>
              </a:rPr>
              <a:t>prompted by · driven by · in an attempt to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7365D"/>
                </a:solidFill>
                <a:latin typeface="Aptos"/>
              </a:rPr>
              <a:t>so as to · for fear of · in response to</a:t>
            </a:r>
          </a:p>
          <a:p>
            <a:pPr algn="l">
              <a:lnSpc>
                <a:spcPct val="112000"/>
              </a:lnSpc>
            </a:pPr>
            <a:r>
              <a:rPr sz="500" b="0">
                <a:solidFill>
                  <a:srgbClr val="17365D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5B7083"/>
                </a:solidFill>
                <a:latin typeface="Aptos"/>
              </a:rPr>
              <a:t>e.g. given the low fee = because the fee is 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983480"/>
            <a:ext cx="10835640" cy="100584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12064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7365D"/>
                </a:solidFill>
                <a:latin typeface="Aptos"/>
              </a:rPr>
              <a:t>Punctuation clues — read to the RIGHT of the mark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7365D"/>
                </a:solidFill>
                <a:latin typeface="Aptos"/>
              </a:rPr>
              <a:t>—   :   “ ”   ( )   ;     →  the reason / explanation follows the mark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09360"/>
            <a:ext cx="10698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365D"/>
                </a:solidFill>
                <a:latin typeface="Aptos"/>
              </a:rPr>
              <a:t>Let’s try the open-ended questions (12 marks)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Finding the purpose — demo 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7083"/>
                </a:solidFill>
                <a:latin typeface="Aptos"/>
              </a:rPr>
              <a:t>(demo — not from the examination paper)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72768"/>
            <a:ext cx="11201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5B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83080"/>
            <a:ext cx="10652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17365D"/>
                </a:solidFill>
                <a:latin typeface="Aptos"/>
              </a:rPr>
              <a:t>Every day, Hong Kong restaurants throw away hundreds of tonnes of edible food. To fight this waste, a charity has launched a ‘surprise meal’ scheme: chefs collect leftover ingredients and turn them into three-course dinners sold for a sixth of the normal price — the aim is simple, to keep good food out of the landfill. ‘We are not a soup kitchen,’ says founder Grace Lam. ‘We are a rescue team.’ Customers pay what they can, and anyone who cannot pay eats for free.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70832"/>
            <a:ext cx="11201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365D"/>
                </a:solidFill>
                <a:latin typeface="Aptos"/>
              </a:rPr>
              <a:t>What is the purpose of the ‘surprise meal’ scheme?</a:t>
            </a:r>
          </a:p>
        </p:txBody>
      </p:sp>
      <p:sp>
        <p:nvSpPr>
          <p:cNvPr id="14" name="demo_ans"/>
          <p:cNvSpPr txBox="1"/>
          <p:nvPr/>
        </p:nvSpPr>
        <p:spPr>
          <a:xfrm>
            <a:off x="502920" y="5212080"/>
            <a:ext cx="11201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7365D"/>
                </a:solidFill>
                <a:latin typeface="Aptos"/>
              </a:rPr>
              <a:t>Model answer:  To keep good food out of the landfill / to reduce the amount of edible food being wasted.</a:t>
            </a:r>
          </a:p>
        </p:txBody>
      </p:sp>
      <p:sp>
        <p:nvSpPr>
          <p:cNvPr id="15" name="demo_clues"/>
          <p:cNvSpPr txBox="1"/>
          <p:nvPr/>
        </p:nvSpPr>
        <p:spPr>
          <a:xfrm>
            <a:off x="502920" y="6053328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7365D"/>
                </a:solidFill>
                <a:latin typeface="Aptos"/>
              </a:rPr>
              <a:t>Clues: the colon after ‘scheme:’ and the dash after ‘normal price —’ — read to the RIGHT. ‘To fight this waste’ at the start also gives the aim.  (PURPOSE → answer starts with ‘to …’)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Finding the reason — demo 2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7083"/>
                </a:solidFill>
                <a:latin typeface="Aptos"/>
              </a:rPr>
              <a:t>(demo — not from the examination paper)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72768"/>
            <a:ext cx="11201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5B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83080"/>
            <a:ext cx="10652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17365D"/>
                </a:solidFill>
                <a:latin typeface="Aptos"/>
              </a:rPr>
              <a:t>Every summer, the city’s Maritime Museum hosts a model-ship race for children. Families crowd the harbour wall to watch the race, which lasts only ten minutes — the real goal is to draw young visitors into the exhibition halls. Visitors who race a boat usually beg their parents for a second visit; given the museum’s modest entrance fee, few families refuse.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70832"/>
            <a:ext cx="11201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365D"/>
                </a:solidFill>
                <a:latin typeface="Aptos"/>
              </a:rPr>
              <a:t>According to the paragraph, why do few families refuse a second visit to the museum?</a:t>
            </a:r>
          </a:p>
        </p:txBody>
      </p:sp>
      <p:sp>
        <p:nvSpPr>
          <p:cNvPr id="14" name="demo_ans"/>
          <p:cNvSpPr txBox="1"/>
          <p:nvPr/>
        </p:nvSpPr>
        <p:spPr>
          <a:xfrm>
            <a:off x="502920" y="5212080"/>
            <a:ext cx="11201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7365D"/>
                </a:solidFill>
                <a:latin typeface="Aptos"/>
              </a:rPr>
              <a:t>Model answer:  Because the museum’s entrance fee is low / modest.</a:t>
            </a:r>
          </a:p>
        </p:txBody>
      </p:sp>
      <p:sp>
        <p:nvSpPr>
          <p:cNvPr id="15" name="demo_clues"/>
          <p:cNvSpPr txBox="1"/>
          <p:nvPr/>
        </p:nvSpPr>
        <p:spPr>
          <a:xfrm>
            <a:off x="502920" y="6053328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7365D"/>
                </a:solidFill>
                <a:latin typeface="Aptos"/>
              </a:rPr>
              <a:t>Clues: ‘given + noun’ is an easy-to-miss reason signal. Read the second half after the semicolon: ‘given the museum’s modest entrance fee, few families refuse.’  (REASON → answer gives the CAUSE)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QUESTION 1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(70%)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7365D"/>
                </a:solidFill>
                <a:latin typeface="Aptos"/>
              </a:rPr>
              <a:t>1.  What does ‘the task’ (line 23) refer to?</a:t>
            </a:r>
          </a:p>
        </p:txBody>
      </p:sp>
      <p:pic>
        <p:nvPicPr>
          <p:cNvPr id="12" name="Picture 11" descr="q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355080" cy="1182528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4726232" y="3176035"/>
            <a:ext cx="675730" cy="160888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78040" y="2395728"/>
            <a:ext cx="4389120" cy="1481328"/>
          </a:xfrm>
          <a:prstGeom prst="round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q1_ans"/>
          <p:cNvSpPr txBox="1"/>
          <p:nvPr/>
        </p:nvSpPr>
        <p:spPr>
          <a:xfrm>
            <a:off x="7406640" y="2523744"/>
            <a:ext cx="3931920" cy="12435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7365D"/>
                </a:solidFill>
                <a:latin typeface="Aptos"/>
              </a:rPr>
              <a:t>It refers to transforming / rebuilding a heap of clay fragments into a full-size warrior — reassembling an army of terra-cotta warriors.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4041648"/>
            <a:ext cx="4389120" cy="2395728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q1_exp"/>
          <p:cNvSpPr txBox="1"/>
          <p:nvPr/>
        </p:nvSpPr>
        <p:spPr>
          <a:xfrm>
            <a:off x="7379208" y="4187952"/>
            <a:ext cx="3986783" cy="2121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>
              <a:lnSpc>
                <a:spcPct val="112000"/>
              </a:lnSpc>
            </a:pPr>
            <a:r>
              <a:rPr sz="400" b="0">
                <a:solidFill>
                  <a:srgbClr val="17365D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17365D"/>
                </a:solidFill>
                <a:latin typeface="Aptos"/>
              </a:rPr>
              <a:t>Paragraph 3 (lines 20–23): “…many days to transform a heap of clay fragments into a full-size warrior, but today they are lucky, accomplishing the task in a matter of hours.” — ‘the task’ looks back at the sentence before it.  (1 mark · 70%)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QUESTION 2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(47%)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7365D"/>
                </a:solidFill>
                <a:latin typeface="Aptos"/>
              </a:rPr>
              <a:t>2.  According to paragraph 3, what were the farmers doing when they first discovered the terra-cotta warriors?</a:t>
            </a:r>
          </a:p>
        </p:txBody>
      </p:sp>
      <p:pic>
        <p:nvPicPr>
          <p:cNvPr id="12" name="Picture 11" descr="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355080" cy="1045773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2489888" y="3159946"/>
            <a:ext cx="1222749" cy="160888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78040" y="2395728"/>
            <a:ext cx="4389120" cy="1481328"/>
          </a:xfrm>
          <a:prstGeom prst="round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q2_ans"/>
          <p:cNvSpPr txBox="1"/>
          <p:nvPr/>
        </p:nvSpPr>
        <p:spPr>
          <a:xfrm>
            <a:off x="7406640" y="2523744"/>
            <a:ext cx="3931920" cy="12435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7365D"/>
                </a:solidFill>
                <a:latin typeface="Aptos"/>
              </a:rPr>
              <a:t>They were digging a well (for their orchard).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4041648"/>
            <a:ext cx="4389120" cy="2395728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q2_exp"/>
          <p:cNvSpPr txBox="1"/>
          <p:nvPr/>
        </p:nvSpPr>
        <p:spPr>
          <a:xfrm>
            <a:off x="7379208" y="4187952"/>
            <a:ext cx="3986783" cy="2121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>
              <a:lnSpc>
                <a:spcPct val="112000"/>
              </a:lnSpc>
            </a:pPr>
            <a:r>
              <a:rPr sz="400" b="0">
                <a:solidFill>
                  <a:srgbClr val="17365D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17365D"/>
                </a:solidFill>
                <a:latin typeface="Aptos"/>
              </a:rPr>
              <a:t>Paragraph 3 (lines 24–27): “…farmers from her village of Xiyang first unearthed pottery and a sculpted head while digging a well for their orchard.” — ‘digging’ alone loses the mark; the answer must include the well.  (1 mark · 47%)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QUESTION 3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(37%)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7365D"/>
                </a:solidFill>
                <a:latin typeface="Aptos"/>
              </a:rPr>
              <a:t>3.  Find a word in paragraph 4 that means ‘not colorful’.</a:t>
            </a:r>
          </a:p>
        </p:txBody>
      </p:sp>
      <p:pic>
        <p:nvPicPr>
          <p:cNvPr id="12" name="Picture 11" descr="q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355080" cy="1837015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2538531" y="2534745"/>
            <a:ext cx="1410033" cy="198596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78040" y="2395728"/>
            <a:ext cx="4389120" cy="1481328"/>
          </a:xfrm>
          <a:prstGeom prst="round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q3_ans"/>
          <p:cNvSpPr txBox="1"/>
          <p:nvPr/>
        </p:nvSpPr>
        <p:spPr>
          <a:xfrm>
            <a:off x="7406640" y="2523744"/>
            <a:ext cx="3931920" cy="12435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7365D"/>
                </a:solidFill>
                <a:latin typeface="Aptos"/>
              </a:rPr>
              <a:t>monochrome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4041648"/>
            <a:ext cx="4389120" cy="2395728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q3_exp"/>
          <p:cNvSpPr txBox="1"/>
          <p:nvPr/>
        </p:nvSpPr>
        <p:spPr>
          <a:xfrm>
            <a:off x="7379208" y="4187952"/>
            <a:ext cx="3986783" cy="2121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>
              <a:lnSpc>
                <a:spcPct val="112000"/>
              </a:lnSpc>
            </a:pPr>
            <a:r>
              <a:rPr sz="400" b="0">
                <a:solidFill>
                  <a:srgbClr val="17365D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17365D"/>
                </a:solidFill>
                <a:latin typeface="Aptos"/>
              </a:rPr>
              <a:t>Paragraph 4 (line 33): “The monochrome figures that visitors to Xian’s terra-cotta army museum see today…” — mono = one, chrome = colour.  (1 mark · 37%)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QUESTION 4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(83%)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7365D"/>
                </a:solidFill>
                <a:latin typeface="Aptos"/>
              </a:rPr>
              <a:t>4.  According to paragraph 5, why did the colors of the warriors not survive?</a:t>
            </a:r>
          </a:p>
        </p:txBody>
      </p:sp>
      <p:pic>
        <p:nvPicPr>
          <p:cNvPr id="12" name="Picture 11" descr="q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355080" cy="1936313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3720179" y="3785901"/>
            <a:ext cx="2720768" cy="268104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78040" y="2395728"/>
            <a:ext cx="4389120" cy="1481328"/>
          </a:xfrm>
          <a:prstGeom prst="round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q4_ans"/>
          <p:cNvSpPr txBox="1"/>
          <p:nvPr/>
        </p:nvSpPr>
        <p:spPr>
          <a:xfrm>
            <a:off x="7406640" y="2523744"/>
            <a:ext cx="3931920" cy="12435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7365D"/>
                </a:solidFill>
                <a:latin typeface="Aptos"/>
              </a:rPr>
              <a:t>Because the colors were exposed to the (dry Xian) air and disintegrated.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4041648"/>
            <a:ext cx="4389120" cy="2395728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q4_exp"/>
          <p:cNvSpPr txBox="1"/>
          <p:nvPr/>
        </p:nvSpPr>
        <p:spPr>
          <a:xfrm>
            <a:off x="7379208" y="4187952"/>
            <a:ext cx="3986783" cy="2121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>
              <a:lnSpc>
                <a:spcPct val="112000"/>
              </a:lnSpc>
            </a:pPr>
            <a:r>
              <a:rPr sz="400" b="0">
                <a:solidFill>
                  <a:srgbClr val="17365D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17365D"/>
                </a:solidFill>
                <a:latin typeface="Aptos"/>
              </a:rPr>
              <a:t>Paragraph 5 (lines 51–56): “…most of the colors did not survive the crucible of time — or the exposure to air that comes with discovery and excavation. … the warriors’ colors disintegrated in the dry Xian air.” — a ‘why’ answer names the CAUSE.  (1 mark · 83%)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QUESTION 5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(38%)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7365D"/>
                </a:solidFill>
                <a:latin typeface="Aptos"/>
              </a:rPr>
              <a:t>5.  In line 61, the writer mentions boiling an egg to show…</a:t>
            </a:r>
          </a:p>
        </p:txBody>
      </p:sp>
      <p:pic>
        <p:nvPicPr>
          <p:cNvPr id="12" name="Picture 11" descr="q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355080" cy="1539121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2886075" y="3636954"/>
            <a:ext cx="1290875" cy="347543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78040" y="2395728"/>
            <a:ext cx="4389120" cy="1481328"/>
          </a:xfrm>
          <a:prstGeom prst="round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q5_ans"/>
          <p:cNvSpPr txBox="1"/>
          <p:nvPr/>
        </p:nvSpPr>
        <p:spPr>
          <a:xfrm>
            <a:off x="7406640" y="2523744"/>
            <a:ext cx="3931920" cy="12435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7365D"/>
                </a:solidFill>
                <a:latin typeface="Aptos"/>
              </a:rPr>
              <a:t>…how quickly / fast the paint begins to curl and flake off — vibrant pieces of history are lost in a very short 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4041648"/>
            <a:ext cx="4389120" cy="2395728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q5_exp"/>
          <p:cNvSpPr txBox="1"/>
          <p:nvPr/>
        </p:nvSpPr>
        <p:spPr>
          <a:xfrm>
            <a:off x="7379208" y="4187952"/>
            <a:ext cx="3986783" cy="2121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>
              <a:lnSpc>
                <a:spcPct val="112000"/>
              </a:lnSpc>
            </a:pPr>
            <a:r>
              <a:rPr sz="400" b="0">
                <a:solidFill>
                  <a:srgbClr val="17365D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17365D"/>
                </a:solidFill>
                <a:latin typeface="Aptos"/>
              </a:rPr>
              <a:t>Lines 58–61: “…the lacquer underneath the paint begins to curl after 15 seconds and flake off in just four minutes — vibrant pieces of history lost in the time it takes to boil an egg.” — ‘to show…’ asks what the example demonstrates.  (1 mark · 38%)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QUESTION 6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(40%)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7365D"/>
                </a:solidFill>
                <a:latin typeface="Aptos"/>
              </a:rPr>
              <a:t>6.  Who developed PEG (line 76)?</a:t>
            </a:r>
          </a:p>
        </p:txBody>
      </p:sp>
      <p:pic>
        <p:nvPicPr>
          <p:cNvPr id="12" name="Picture 11" descr="q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355080" cy="177209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4902590" y="3544530"/>
            <a:ext cx="611065" cy="244426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78040" y="2395728"/>
            <a:ext cx="4389120" cy="1481328"/>
          </a:xfrm>
          <a:prstGeom prst="round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q6_ans"/>
          <p:cNvSpPr txBox="1"/>
          <p:nvPr/>
        </p:nvSpPr>
        <p:spPr>
          <a:xfrm>
            <a:off x="7406640" y="2523744"/>
            <a:ext cx="3931920" cy="12435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7365D"/>
                </a:solidFill>
                <a:latin typeface="Aptos"/>
              </a:rPr>
              <a:t>Chinese researchers (working together) with experts from the Conservation Office in Germany.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4041648"/>
            <a:ext cx="4389120" cy="2395728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q6_exp"/>
          <p:cNvSpPr txBox="1"/>
          <p:nvPr/>
        </p:nvSpPr>
        <p:spPr>
          <a:xfrm>
            <a:off x="7379208" y="4187952"/>
            <a:ext cx="3986783" cy="2121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>
              <a:lnSpc>
                <a:spcPct val="112000"/>
              </a:lnSpc>
            </a:pPr>
            <a:r>
              <a:rPr sz="400" b="0">
                <a:solidFill>
                  <a:srgbClr val="17365D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17365D"/>
                </a:solidFill>
                <a:latin typeface="Aptos"/>
              </a:rPr>
              <a:t>Paragraph 7 (lines 74–76): “Almost thirty years ago, Chinese researchers started working with experts from the Conservation Office in Germany to develop a preservative known as PEG…” — both groups; naming one side loses the mark.  (1 mark · 40%)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QUESTION 7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(74%)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7365D"/>
                </a:solidFill>
                <a:latin typeface="Aptos"/>
              </a:rPr>
              <a:t>7.  What is the purpose of wrapping the artifact in plastic?</a:t>
            </a:r>
          </a:p>
        </p:txBody>
      </p:sp>
      <p:pic>
        <p:nvPicPr>
          <p:cNvPr id="12" name="Picture 11" descr="q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355080" cy="2749794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3851558" y="3556752"/>
            <a:ext cx="2652023" cy="293311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78040" y="2395728"/>
            <a:ext cx="4389120" cy="1481328"/>
          </a:xfrm>
          <a:prstGeom prst="round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q7_ans"/>
          <p:cNvSpPr txBox="1"/>
          <p:nvPr/>
        </p:nvSpPr>
        <p:spPr>
          <a:xfrm>
            <a:off x="7406640" y="2523744"/>
            <a:ext cx="3931920" cy="12435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7365D"/>
                </a:solidFill>
                <a:latin typeface="Aptos"/>
              </a:rPr>
              <a:t>To keep in the protective moisture / to keep the artifact wet / to protect it from the dry air.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4041648"/>
            <a:ext cx="4389120" cy="2395728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q7_exp"/>
          <p:cNvSpPr txBox="1"/>
          <p:nvPr/>
        </p:nvSpPr>
        <p:spPr>
          <a:xfrm>
            <a:off x="7379208" y="4187952"/>
            <a:ext cx="3986783" cy="2121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>
              <a:lnSpc>
                <a:spcPct val="112000"/>
              </a:lnSpc>
            </a:pPr>
            <a:r>
              <a:rPr sz="400" b="0">
                <a:solidFill>
                  <a:srgbClr val="17365D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17365D"/>
                </a:solidFill>
                <a:latin typeface="Aptos"/>
              </a:rPr>
              <a:t>Paragraph 7 (lines 79–81): “…workers sprayed any bit of exposed color with the solution, then wrapped it in plastic to keep in the protective moisture.” — purpose answers start with ‘to…’ / ‘so that…’.  (1 mark · 74%)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QUESTION 8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(28%)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201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7365D"/>
                </a:solidFill>
                <a:latin typeface="Aptos"/>
              </a:rPr>
              <a:t>8.  According to Rong Bo, why should the earth be treated like an artifact (lines 112–113)?</a:t>
            </a:r>
          </a:p>
        </p:txBody>
      </p:sp>
      <p:pic>
        <p:nvPicPr>
          <p:cNvPr id="12" name="Picture 11" descr="q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355080" cy="1721168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4104132" y="3322510"/>
            <a:ext cx="1059180" cy="203009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03324" y="3640264"/>
            <a:ext cx="1085659" cy="203009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178040" y="2395728"/>
            <a:ext cx="4389120" cy="1481328"/>
          </a:xfrm>
          <a:prstGeom prst="round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q8_ans"/>
          <p:cNvSpPr txBox="1"/>
          <p:nvPr/>
        </p:nvSpPr>
        <p:spPr>
          <a:xfrm>
            <a:off x="7406640" y="2523744"/>
            <a:ext cx="3931920" cy="12435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7365D"/>
                </a:solidFill>
                <a:latin typeface="Aptos"/>
              </a:rPr>
              <a:t>Because so much color and artistry has been imprinted on the soil — the ancient paint adheres to dirt more readily than to lacquer.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78040" y="4041648"/>
            <a:ext cx="4389120" cy="2395728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q8_exp"/>
          <p:cNvSpPr txBox="1"/>
          <p:nvPr/>
        </p:nvSpPr>
        <p:spPr>
          <a:xfrm>
            <a:off x="7379208" y="4187952"/>
            <a:ext cx="3986783" cy="2121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>
              <a:lnSpc>
                <a:spcPct val="112000"/>
              </a:lnSpc>
            </a:pPr>
            <a:r>
              <a:rPr sz="400" b="0">
                <a:solidFill>
                  <a:srgbClr val="17365D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17365D"/>
                </a:solidFill>
                <a:latin typeface="Aptos"/>
              </a:rPr>
              <a:t>Paragraph 10 (lines 110–113): “With so much color and artistry imprinted on the soil — the ancient paint, alas, adheres to dirt more readily than to lacquer — … We are treating the earth as an artifact.” — the soil itself holds the paint.  (1 mark · 28% — hardest in this lesson)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91695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5B7A5"/>
                </a:solidFill>
                <a:latin typeface="Aptos"/>
              </a:rPr>
              <a:t>QUESTION 9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-36576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64040" y="256032"/>
            <a:ext cx="2148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5B7083"/>
                </a:solidFill>
                <a:latin typeface="Aptos"/>
              </a:rPr>
              <a:t>(4 marks)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261872"/>
            <a:ext cx="11201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7365D"/>
                </a:solidFill>
                <a:latin typeface="Aptos"/>
              </a:rPr>
              <a:t>9.  Use ONE word to complete each blank.  Make sure your answers are grammatically correct, paying attention to word form, plurals, etc.</a:t>
            </a:r>
          </a:p>
          <a:p>
            <a:pPr algn="l">
              <a:lnSpc>
                <a:spcPct val="110000"/>
              </a:lnSpc>
            </a:pPr>
            <a:r>
              <a:rPr sz="400" b="0">
                <a:solidFill>
                  <a:srgbClr val="17365D"/>
                </a:solidFill>
                <a:latin typeface="Apto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75B5"/>
                </a:solidFill>
                <a:latin typeface="Aptos"/>
              </a:rPr>
              <a:t>The next challenge for (i) ________ is to (ii) ________ a procedure for (iii) ________ color to the warriors now that a (iv) ________ has been developed to hold together the soil.</a:t>
            </a:r>
          </a:p>
        </p:txBody>
      </p:sp>
      <p:pic>
        <p:nvPicPr>
          <p:cNvPr id="12" name="Picture 11" descr="q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355080" cy="1853565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1712150" y="2722308"/>
            <a:ext cx="909129" cy="238315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0623" y="3040062"/>
            <a:ext cx="1279842" cy="203009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94699" y="3551999"/>
            <a:ext cx="397192" cy="211836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8276" y="3860926"/>
            <a:ext cx="1933003" cy="238315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78040" y="2395728"/>
            <a:ext cx="4389120" cy="1481328"/>
          </a:xfrm>
          <a:prstGeom prst="round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q9_ans"/>
          <p:cNvSpPr txBox="1"/>
          <p:nvPr/>
        </p:nvSpPr>
        <p:spPr>
          <a:xfrm>
            <a:off x="7406640" y="2523744"/>
            <a:ext cx="3931920" cy="12435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7365D"/>
                </a:solidFill>
                <a:latin typeface="Aptos"/>
              </a:rPr>
              <a:t>(i)  Rong (Bo) / chemists / researchers / scientists / experts
(ii)  create / find / develop / discover / invent
(iii)  (re)applying        (iv)  binding agent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8040" y="4041648"/>
            <a:ext cx="4389120" cy="2395728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q9_exp"/>
          <p:cNvSpPr txBox="1"/>
          <p:nvPr/>
        </p:nvSpPr>
        <p:spPr>
          <a:xfrm>
            <a:off x="7379208" y="4187952"/>
            <a:ext cx="3986783" cy="2121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>
              <a:lnSpc>
                <a:spcPct val="112000"/>
              </a:lnSpc>
            </a:pPr>
            <a:r>
              <a:rPr sz="400" b="0">
                <a:solidFill>
                  <a:srgbClr val="17365D"/>
                </a:solidFill>
                <a:latin typeface="Apto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17365D"/>
                </a:solidFill>
                <a:latin typeface="Aptos"/>
              </a:rPr>
              <a:t>Paragraph 10 (lines 112–118): “…Rong Bo, the museum’s head chemist, who helped develop a binding agent that holds the soil together … The next challenge, Rong says, will be to find an acceptable method for reapplying this color to the warriors.”  (i) 47% · (ii) 62% · (iii) 63% · (iv) 63%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